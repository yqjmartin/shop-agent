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</p:sldIdLst>
  <p:sldSz cx="1219136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61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61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2" Type="http://schemas.openxmlformats.org/officeDocument/2006/relationships/tableStyles" Target="tableStyles.xml"/><Relationship Id="rId21" Type="http://schemas.openxmlformats.org/officeDocument/2006/relationships/viewProps" Target="viewProps.xml"/><Relationship Id="rId20" Type="http://schemas.openxmlformats.org/officeDocument/2006/relationships/presProps" Target="presProps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sz="1400" b="0">
                <a:solidFill>
                  <a:srgbClr val="2C3E50"/>
                </a:solidFill>
                <a:latin typeface="微软雅黑" panose="020B0503020204020204" charset="-122"/>
                <a:ea typeface="微软雅黑" panose="020B0503020204020204" charset="-122"/>
              </a:rPr>
              <a:t>大家好，这次课程汇报我将介绍我的大作业——Shop Agent 电商管理客服系统。它是一个基于 RAG、Agent 和 Tool Calling 的极简版智能客服，整个项目已完成后端 FastAPI 服务、Streamlit 前端，以及三阶段的 Agent Memory 压缩机制。汇报约 10 分钟，分为背景、技术、演示、总结四部分。</a:t>
            </a:r>
            <a:endParaRPr sz="1400" b="0">
              <a:solidFill>
                <a:srgbClr val="2C3E5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sz="1400" b="0">
                <a:solidFill>
                  <a:srgbClr val="2C3E50"/>
                </a:solidFill>
                <a:latin typeface="微软雅黑" panose="020B0503020204020204" charset="-122"/>
                <a:ea typeface="微软雅黑" panose="020B0503020204020204" charset="-122"/>
              </a:rPr>
              <a:t>汇报分为四个部分：背景与定位说明为什么要做；技术实现介绍系统的四个核心模块；功能演示展示用户真实使用流程；最后是总结与后续工作。</a:t>
            </a:r>
            <a:endParaRPr sz="1400" b="0">
              <a:solidFill>
                <a:srgbClr val="2C3E5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sz="1400" b="0">
                <a:solidFill>
                  <a:srgbClr val="2C3E50"/>
                </a:solidFill>
                <a:latin typeface="微软雅黑" panose="020B0503020204020204" charset="-122"/>
                <a:ea typeface="微软雅黑" panose="020B0503020204020204" charset="-122"/>
              </a:rPr>
              <a:t>电商客服有三个典型痛点：成本高、7×24 覆盖难、标准化问题多。纯 LLM 无法访问真实订单数据，也无法给出准确商品推荐，而且对话一长 Token 就爆了。所以我们用 Tool Calling + RAG + Memory 三件套来解决。</a:t>
            </a:r>
            <a:endParaRPr sz="1400" b="0">
              <a:solidFill>
                <a:srgbClr val="2C3E5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sz="1400" b="0">
                <a:solidFill>
                  <a:srgbClr val="2C3E50"/>
                </a:solidFill>
                <a:latin typeface="微软雅黑" panose="020B0503020204020204" charset="-122"/>
                <a:ea typeface="微软雅黑" panose="020B0503020204020204" charset="-122"/>
              </a:rPr>
              <a:t>定位是一个小而全的可落地原型，重点不在规模，而在串通 RAG + Agent + Memory 的完整链路。右边是 6 个主要目标，全部已经实现，后面会逐项展开。</a:t>
            </a:r>
            <a:endParaRPr sz="1400" b="0">
              <a:solidFill>
                <a:srgbClr val="2C3E5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sz="1400" b="0">
                <a:solidFill>
                  <a:srgbClr val="2C3E50"/>
                </a:solidFill>
                <a:latin typeface="微软雅黑" panose="020B0503020204020204" charset="-122"/>
                <a:ea typeface="微软雅黑" panose="020B0503020204020204" charset="-122"/>
              </a:rPr>
              <a:t>技术栈全部是 Python 生态：FastAPI 做后端，DeepSeek 做大模型，SiliconFlow 做向量化，ChromaDB 做向量检索，SQLite 做订单库，Streamlit 做前端。下面一排是工程化组件：启动校验、日志、限流、异常、监控。</a:t>
            </a:r>
            <a:endParaRPr sz="1400" b="0">
              <a:solidFill>
                <a:srgbClr val="2C3E5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sz="1400" b="0">
                <a:solidFill>
                  <a:srgbClr val="2C3E50"/>
                </a:solidFill>
                <a:latin typeface="微软雅黑" panose="020B0503020204020204" charset="-122"/>
                <a:ea typeface="微软雅黑" panose="020B0503020204020204" charset="-122"/>
              </a:rPr>
              <a:t>系统采用"分层后端 + 多 Agent 协同 + 双前端验证"的方案，共四层：展示层有微信小程序和 Streamlit 两套前端；API 网关层统一通过 FastAPI 并加鉴权、限流、日志中间件；智能层由 RouterAgent 分发到 Order、RAG、General 三类 Agent，旁挂 AgentMemory 做记忆压缩；数据层是 SQLite 关系库加 ChromaDB 向量库。这张图在我们的报告中是"图 3·系统架构图"。</a:t>
            </a:r>
            <a:endParaRPr sz="1400" b="0">
              <a:solidFill>
                <a:srgbClr val="2C3E5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sz="1400" b="0">
                <a:solidFill>
                  <a:srgbClr val="2C3E50"/>
                </a:solidFill>
                <a:latin typeface="微软雅黑" panose="020B0503020204020204" charset="-122"/>
                <a:ea typeface="微软雅黑" panose="020B0503020204020204" charset="-122"/>
              </a:rPr>
              <a:t>Tool Calling 用的是 OpenAI 函数调用协议。左侧是系统的 UML 时序图，完整展示了用户 → OrderAgent（LLM） → OrderService（工具调度层） → SQLite 的 7 步交互：模型先做语义理解和意图判断，触发 tool_calls 后由后端执行真实 SQL 查询，再把结果以 ToolMessage 角色回喂给模型，最终生成自然语言回复。</a:t>
            </a:r>
            <a:endParaRPr sz="1400" b="0">
              <a:solidFill>
                <a:srgbClr val="2C3E5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sz="1400" b="0">
                <a:solidFill>
                  <a:srgbClr val="2C3E50"/>
                </a:solidFill>
                <a:latin typeface="微软雅黑" panose="020B0503020204020204" charset="-122"/>
                <a:ea typeface="微软雅黑" panose="020B0503020204020204" charset="-122"/>
              </a:rPr>
              <a:t>RAG 在我们系统中分两个阶段：左图上半部分是向量检索，把用户 query 转成向量后在 ChromaDB 里做相似度检索，召回 Top-K 商品；下半部分是增强生成，把召回结果和原始意图一起拼进 Prompt 交给大模型生成推荐话术。相比关键词匹配，向量检索能处理语义近义表达，鲁棒性更高。</a:t>
            </a:r>
            <a:endParaRPr sz="1400" b="0">
              <a:solidFill>
                <a:srgbClr val="2C3E5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sz="1400" b="0">
                <a:solidFill>
                  <a:srgbClr val="2C3E50"/>
                </a:solidFill>
                <a:latin typeface="微软雅黑" panose="020B0503020204020204" charset="-122"/>
                <a:ea typeface="微软雅黑" panose="020B0503020204020204" charset="-122"/>
              </a:rPr>
              <a:t>Router Agent 做的是三分类：订单查询、产品推荐、通用对话。它用 LLM 识别意图后分发给对应子 Agent，前端也会显示识别出的意图标签。已识别到的优化点是分类多了一次 LLM 调用，后续可以合并或用规则预过滤。</a:t>
            </a:r>
            <a:endParaRPr sz="1400" b="0">
              <a:solidFill>
                <a:srgbClr val="2C3E5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sz="1400" b="0">
                <a:solidFill>
                  <a:srgbClr val="2C3E50"/>
                </a:solidFill>
                <a:latin typeface="微软雅黑" panose="020B0503020204020204" charset="-122"/>
                <a:ea typeface="微软雅黑" panose="020B0503020204020204" charset="-122"/>
              </a:rPr>
              <a:t>Memory 是本项目的亮点之一，分三阶段：阶段 1 用规则 Buffer 策略保留最近 3 轮、压缩 4-8 轮；阶段 2 加入场景识别，结构化保存订单号、商品偏好等关键字段；阶段 3 用 LLM 对早期历史生成 50 字摘要。需要强调：下表数字是设计目标，来源 AGENT_MEMORY_PLAN.md，不是实测值。</a:t>
            </a:r>
            <a:endParaRPr sz="1400" b="0">
              <a:solidFill>
                <a:srgbClr val="2C3E5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sz="1400" b="0">
                <a:solidFill>
                  <a:srgbClr val="2C3E50"/>
                </a:solidFill>
                <a:latin typeface="微软雅黑" panose="020B0503020204020204" charset="-122"/>
                <a:ea typeface="微软雅黑" panose="020B0503020204020204" charset="-122"/>
              </a:rPr>
              <a:t>数据层一共四张表：users、orders、products 以及桥表 order_items。users 到 orders 是一对多（一个用户可以有多个订单），orders 与 products 通过 order_items 多对多关联。关键字段加了索引以支撑订单号、快递号、商品维度的高效检索。这张图在报告中是"图 5·ER 图"。</a:t>
            </a:r>
            <a:endParaRPr sz="1400" b="0">
              <a:solidFill>
                <a:srgbClr val="2C3E5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sz="1400" b="0">
                <a:solidFill>
                  <a:srgbClr val="2C3E50"/>
                </a:solidFill>
                <a:latin typeface="微软雅黑" panose="020B0503020204020204" charset="-122"/>
                <a:ea typeface="微软雅黑" panose="020B0503020204020204" charset="-122"/>
              </a:rPr>
              <a:t>四大亮点：分层架构、正交 Agent、三阶段压缩、工程化配套。这些不仅是课程作业的完成度体现，也是工程上可以继续扩展的基础。</a:t>
            </a:r>
            <a:endParaRPr sz="1400" b="0">
              <a:solidFill>
                <a:srgbClr val="2C3E5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sz="1400" b="0">
                <a:solidFill>
                  <a:srgbClr val="2C3E50"/>
                </a:solidFill>
                <a:latin typeface="微软雅黑" panose="020B0503020204020204" charset="-122"/>
                <a:ea typeface="微软雅黑" panose="020B0503020204020204" charset="-122"/>
              </a:rPr>
              <a:t>这一页是微信小程序端的真实运行截图。左图是登录页，携带 JWT Bearer Token 调用后端统一接口；右图是商品推荐场景——用户提问"推荐 400 元左右的键盘"，系统经 RouterAgent 识别为 product_recommend 意图，RAGAgent 在 ChromaDB 中检索召回，再由 LLM 生成结构化的推荐话术：首选、价格、特点、适合人群与其他选项对比。</a:t>
            </a:r>
            <a:endParaRPr sz="1400" b="0">
              <a:solidFill>
                <a:srgbClr val="2C3E5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sz="1400" b="0">
                <a:solidFill>
                  <a:srgbClr val="2C3E50"/>
                </a:solidFill>
                <a:latin typeface="微软雅黑" panose="020B0503020204020204" charset="-122"/>
                <a:ea typeface="微软雅黑" panose="020B0503020204020204" charset="-122"/>
              </a:rPr>
              <a:t>Streamlit 是开发阶段的联调前端，不作为正式演示界面。这张截图里重点强调两处标签：「识别意图：product_recommend」和「使用工具：product_search」，它们证明 RouterAgent 确实做了意图分类，RAGAgent 确实调用了底层检索能力。三大场景——订单、推荐、多轮，分别对应 Tool Calling、RAG、Memory 三项核心能力。</a:t>
            </a:r>
            <a:endParaRPr sz="1400" b="0">
              <a:solidFill>
                <a:srgbClr val="2C3E5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sz="1400" b="0">
                <a:solidFill>
                  <a:srgbClr val="2C3E50"/>
                </a:solidFill>
                <a:latin typeface="微软雅黑" panose="020B0503020204020204" charset="-122"/>
                <a:ea typeface="微软雅黑" panose="020B0503020204020204" charset="-122"/>
              </a:rPr>
              <a:t>左边是已交付的功能清单，对应 todo.md 打勾的部分以及 AGENT_MEMORY_PLAN.md 的阶段 1-3；右边是 to-fix.md 中识别到的待完善项，优先级较高的是会话持久化和 JWT 签名升级。这既是课程作业的收尾，也是继续演进的蓝图。</a:t>
            </a:r>
            <a:endParaRPr sz="1400" b="0">
              <a:solidFill>
                <a:srgbClr val="2C3E5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sz="1400" b="0">
                <a:solidFill>
                  <a:srgbClr val="2C3E50"/>
                </a:solidFill>
                <a:latin typeface="微软雅黑" panose="020B0503020204020204" charset="-122"/>
                <a:ea typeface="微软雅黑" panose="020B0503020204020204" charset="-122"/>
              </a:rPr>
              <a:t>汇报到此结束，感谢老师和同学们的聆听。欢迎针对架构、RAG 召回策略、Memory 压缩效果等任意方向提问。</a:t>
            </a:r>
            <a:endParaRPr sz="1400" b="0">
              <a:solidFill>
                <a:srgbClr val="2C3E5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4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3.x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1" Type="http://schemas.openxmlformats.org/officeDocument/2006/relationships/image" Target="../media/image5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7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29200"/>
            <a:ext cx="12191695" cy="18288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5394960" y="1645920"/>
            <a:ext cx="1371600" cy="1371600"/>
          </a:xfrm>
          <a:prstGeom prst="ellipse">
            <a:avLst/>
          </a:prstGeom>
          <a:solidFill>
            <a:srgbClr val="1F3A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sz="44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SA</a:t>
            </a:r>
            <a:endParaRPr sz="44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914400" y="3212465"/>
            <a:ext cx="1033272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5600" b="1">
                <a:solidFill>
                  <a:srgbClr val="1F3A68"/>
                </a:solidFill>
                <a:latin typeface="微软雅黑" panose="020B0503020204020204" charset="-122"/>
                <a:ea typeface="微软雅黑" panose="020B0503020204020204" charset="-122"/>
              </a:rPr>
              <a:t>Shop Agent</a:t>
            </a:r>
            <a:endParaRPr sz="5600" b="1">
              <a:solidFill>
                <a:srgbClr val="1F3A6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914400" y="4114800"/>
            <a:ext cx="103327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800" b="0">
                <a:solidFill>
                  <a:srgbClr val="1F3A68"/>
                </a:solidFill>
                <a:latin typeface="微软雅黑" panose="020B0503020204020204" charset="-122"/>
                <a:ea typeface="微软雅黑" panose="020B0503020204020204" charset="-122"/>
              </a:rPr>
              <a:t>电商管理客服系统</a:t>
            </a:r>
            <a:endParaRPr sz="2800" b="0">
              <a:solidFill>
                <a:srgbClr val="1F3A6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914400" y="4572000"/>
            <a:ext cx="103327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600" b="0">
                <a:solidFill>
                  <a:srgbClr val="566573"/>
                </a:solidFill>
                <a:latin typeface="微软雅黑" panose="020B0503020204020204" charset="-122"/>
                <a:ea typeface="微软雅黑" panose="020B0503020204020204" charset="-122"/>
              </a:rPr>
              <a:t>基于 RAG + Agent + Tool Calling 的课程大作业</a:t>
            </a:r>
            <a:endParaRPr sz="1600" b="0">
              <a:solidFill>
                <a:srgbClr val="56657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432407" y="5669280"/>
            <a:ext cx="3108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00" b="0">
                <a:solidFill>
                  <a:srgbClr val="566573"/>
                </a:solidFill>
                <a:latin typeface="微软雅黑" panose="020B0503020204020204" charset="-122"/>
                <a:ea typeface="微软雅黑" panose="020B0503020204020204" charset="-122"/>
              </a:rPr>
              <a:t>课程</a:t>
            </a:r>
            <a:endParaRPr sz="1300" b="0">
              <a:solidFill>
                <a:srgbClr val="56657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432407" y="5943600"/>
            <a:ext cx="3108960" cy="24574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600" b="1">
                <a:solidFill>
                  <a:srgbClr val="1F3A68"/>
                </a:solidFill>
                <a:latin typeface="微软雅黑" panose="020B0503020204020204" charset="-122"/>
                <a:ea typeface="微软雅黑" panose="020B0503020204020204" charset="-122"/>
              </a:rPr>
              <a:t>人工智能</a:t>
            </a:r>
            <a:endParaRPr lang="zh-CN" sz="1600" b="1">
              <a:solidFill>
                <a:srgbClr val="1F3A6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4541367" y="5669280"/>
            <a:ext cx="3108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00" b="0">
                <a:solidFill>
                  <a:srgbClr val="566573"/>
                </a:solidFill>
                <a:latin typeface="微软雅黑" panose="020B0503020204020204" charset="-122"/>
                <a:ea typeface="微软雅黑" panose="020B0503020204020204" charset="-122"/>
              </a:rPr>
              <a:t>作者</a:t>
            </a:r>
            <a:endParaRPr sz="1300" b="0">
              <a:solidFill>
                <a:srgbClr val="56657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4541367" y="5943600"/>
            <a:ext cx="310896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600" b="1">
                <a:solidFill>
                  <a:srgbClr val="1F3A68"/>
                </a:solidFill>
                <a:latin typeface="微软雅黑" panose="020B0503020204020204" charset="-122"/>
                <a:ea typeface="微软雅黑" panose="020B0503020204020204" charset="-122"/>
              </a:rPr>
              <a:t>姓名 / 学号</a:t>
            </a:r>
            <a:endParaRPr sz="1600" b="1">
              <a:solidFill>
                <a:srgbClr val="1F3A6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7650327" y="5669280"/>
            <a:ext cx="3108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00" b="0">
                <a:solidFill>
                  <a:srgbClr val="566573"/>
                </a:solidFill>
                <a:latin typeface="微软雅黑" panose="020B0503020204020204" charset="-122"/>
                <a:ea typeface="微软雅黑" panose="020B0503020204020204" charset="-122"/>
              </a:rPr>
              <a:t>日期</a:t>
            </a:r>
            <a:endParaRPr sz="1300" b="0">
              <a:solidFill>
                <a:srgbClr val="56657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7650327" y="5943600"/>
            <a:ext cx="310896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600" b="1">
                <a:solidFill>
                  <a:srgbClr val="1F3A68"/>
                </a:solidFill>
                <a:latin typeface="微软雅黑" panose="020B0503020204020204" charset="-122"/>
                <a:ea typeface="微软雅黑" panose="020B0503020204020204" charset="-122"/>
              </a:rPr>
              <a:t>2026 年春</a:t>
            </a:r>
            <a:endParaRPr sz="1600" b="1">
              <a:solidFill>
                <a:srgbClr val="1F3A6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502920"/>
            <a:ext cx="109728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600" b="1">
                <a:solidFill>
                  <a:srgbClr val="1F3A68"/>
                </a:solidFill>
                <a:latin typeface="微软雅黑" panose="020B0503020204020204" charset="-122"/>
                <a:ea typeface="微软雅黑" panose="020B0503020204020204" charset="-122"/>
              </a:rPr>
              <a:t>汇报目录</a:t>
            </a:r>
            <a:endParaRPr sz="3600" b="1">
              <a:solidFill>
                <a:srgbClr val="1F3A6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02920" y="1097280"/>
            <a:ext cx="109728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>
                <a:solidFill>
                  <a:srgbClr val="566573"/>
                </a:solidFill>
                <a:latin typeface="微软雅黑" panose="020B0503020204020204" charset="-122"/>
                <a:ea typeface="微软雅黑" panose="020B0503020204020204" charset="-122"/>
              </a:rPr>
              <a:t>Table of Contents</a:t>
            </a:r>
            <a:endParaRPr sz="1400" b="0">
              <a:solidFill>
                <a:srgbClr val="56657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02920" y="1554480"/>
            <a:ext cx="11155680" cy="27432"/>
          </a:xfrm>
          <a:prstGeom prst="rect">
            <a:avLst/>
          </a:prstGeom>
          <a:solidFill>
            <a:srgbClr val="E5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965960"/>
            <a:ext cx="5394960" cy="1737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2240279"/>
            <a:ext cx="128016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4200" b="1">
                <a:solidFill>
                  <a:srgbClr val="2E86C1"/>
                </a:solidFill>
                <a:latin typeface="微软雅黑" panose="020B0503020204020204" charset="-122"/>
                <a:ea typeface="微软雅黑" panose="020B0503020204020204" charset="-122"/>
              </a:rPr>
              <a:t>01</a:t>
            </a:r>
            <a:endParaRPr sz="4200" b="1">
              <a:solidFill>
                <a:srgbClr val="2E86C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2057400" y="2331720"/>
            <a:ext cx="356616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>
                <a:solidFill>
                  <a:srgbClr val="1F3A68"/>
                </a:solidFill>
                <a:latin typeface="微软雅黑" panose="020B0503020204020204" charset="-122"/>
                <a:ea typeface="微软雅黑" panose="020B0503020204020204" charset="-122"/>
              </a:rPr>
              <a:t>项目背景与定位</a:t>
            </a:r>
            <a:endParaRPr sz="2400" b="1">
              <a:solidFill>
                <a:srgbClr val="1F3A6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2057400" y="2880360"/>
            <a:ext cx="35661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>
                <a:solidFill>
                  <a:srgbClr val="566573"/>
                </a:solidFill>
                <a:latin typeface="微软雅黑" panose="020B0503020204020204" charset="-122"/>
                <a:ea typeface="微软雅黑" panose="020B0503020204020204" charset="-122"/>
              </a:rPr>
              <a:t>🛒 痛点分析 · 目标设定</a:t>
            </a:r>
            <a:endParaRPr sz="1400" b="0">
              <a:solidFill>
                <a:srgbClr val="56657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6217920" y="1965960"/>
            <a:ext cx="5394960" cy="1737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2240279"/>
            <a:ext cx="128016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4200" b="1">
                <a:solidFill>
                  <a:srgbClr val="2E86C1"/>
                </a:solidFill>
                <a:latin typeface="微软雅黑" panose="020B0503020204020204" charset="-122"/>
                <a:ea typeface="微软雅黑" panose="020B0503020204020204" charset="-122"/>
              </a:rPr>
              <a:t>02</a:t>
            </a:r>
            <a:endParaRPr sz="4200" b="1">
              <a:solidFill>
                <a:srgbClr val="2E86C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7772400" y="2331720"/>
            <a:ext cx="356616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>
                <a:solidFill>
                  <a:srgbClr val="1F3A68"/>
                </a:solidFill>
                <a:latin typeface="微软雅黑" panose="020B0503020204020204" charset="-122"/>
                <a:ea typeface="微软雅黑" panose="020B0503020204020204" charset="-122"/>
              </a:rPr>
              <a:t>核心技术实现</a:t>
            </a:r>
            <a:endParaRPr sz="2400" b="1">
              <a:solidFill>
                <a:srgbClr val="1F3A6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7772400" y="2880360"/>
            <a:ext cx="35661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>
                <a:solidFill>
                  <a:srgbClr val="566573"/>
                </a:solidFill>
                <a:latin typeface="微软雅黑" panose="020B0503020204020204" charset="-122"/>
                <a:ea typeface="微软雅黑" panose="020B0503020204020204" charset="-122"/>
              </a:rPr>
              <a:t>⚙️ 架构 · RAG · Tool Calling · Memory</a:t>
            </a:r>
            <a:endParaRPr sz="1400" b="0">
              <a:solidFill>
                <a:srgbClr val="56657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502920" y="4023360"/>
            <a:ext cx="5394960" cy="1737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4297680"/>
            <a:ext cx="128016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4200" b="1">
                <a:solidFill>
                  <a:srgbClr val="2E86C1"/>
                </a:solidFill>
                <a:latin typeface="微软雅黑" panose="020B0503020204020204" charset="-122"/>
                <a:ea typeface="微软雅黑" panose="020B0503020204020204" charset="-122"/>
              </a:rPr>
              <a:t>03</a:t>
            </a:r>
            <a:endParaRPr sz="4200" b="1">
              <a:solidFill>
                <a:srgbClr val="2E86C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2057400" y="4389120"/>
            <a:ext cx="356616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>
                <a:solidFill>
                  <a:srgbClr val="1F3A68"/>
                </a:solidFill>
                <a:latin typeface="微软雅黑" panose="020B0503020204020204" charset="-122"/>
                <a:ea typeface="微软雅黑" panose="020B0503020204020204" charset="-122"/>
              </a:rPr>
              <a:t>功能演示</a:t>
            </a:r>
            <a:endParaRPr sz="2400" b="1">
              <a:solidFill>
                <a:srgbClr val="1F3A6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2057400" y="4937760"/>
            <a:ext cx="35661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>
                <a:solidFill>
                  <a:srgbClr val="566573"/>
                </a:solidFill>
                <a:latin typeface="微软雅黑" panose="020B0503020204020204" charset="-122"/>
                <a:ea typeface="微软雅黑" panose="020B0503020204020204" charset="-122"/>
              </a:rPr>
              <a:t>💬 登录 · 对话 · 意图 · 多轮</a:t>
            </a:r>
            <a:endParaRPr sz="1400" b="0">
              <a:solidFill>
                <a:srgbClr val="56657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6217920" y="4023360"/>
            <a:ext cx="5394960" cy="1737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92240" y="4297680"/>
            <a:ext cx="128016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4200" b="1">
                <a:solidFill>
                  <a:srgbClr val="2E86C1"/>
                </a:solidFill>
                <a:latin typeface="微软雅黑" panose="020B0503020204020204" charset="-122"/>
                <a:ea typeface="微软雅黑" panose="020B0503020204020204" charset="-122"/>
              </a:rPr>
              <a:t>04</a:t>
            </a:r>
            <a:endParaRPr sz="4200" b="1">
              <a:solidFill>
                <a:srgbClr val="2E86C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7772400" y="4389120"/>
            <a:ext cx="356616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>
                <a:solidFill>
                  <a:srgbClr val="1F3A68"/>
                </a:solidFill>
                <a:latin typeface="微软雅黑" panose="020B0503020204020204" charset="-122"/>
                <a:ea typeface="微软雅黑" panose="020B0503020204020204" charset="-122"/>
              </a:rPr>
              <a:t>总结与展望</a:t>
            </a:r>
            <a:endParaRPr sz="2400" b="1">
              <a:solidFill>
                <a:srgbClr val="1F3A6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7772400" y="4937760"/>
            <a:ext cx="35661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>
                <a:solidFill>
                  <a:srgbClr val="566573"/>
                </a:solidFill>
                <a:latin typeface="微软雅黑" panose="020B0503020204020204" charset="-122"/>
                <a:ea typeface="微软雅黑" panose="020B0503020204020204" charset="-122"/>
              </a:rPr>
              <a:t>📊 成果 · 后续工作 · Q&amp;A</a:t>
            </a:r>
            <a:endParaRPr sz="1400" b="0">
              <a:solidFill>
                <a:srgbClr val="56657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502920" y="644652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>
                <a:solidFill>
                  <a:srgbClr val="566573"/>
                </a:solidFill>
                <a:latin typeface="微软雅黑" panose="020B0503020204020204" charset="-122"/>
                <a:ea typeface="微软雅黑" panose="020B0503020204020204" charset="-122"/>
              </a:rPr>
              <a:t>Shop Agent · 电商管理客服系统 · 课程汇报</a:t>
            </a:r>
            <a:endParaRPr sz="1100" b="0">
              <a:solidFill>
                <a:srgbClr val="56657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10241280" y="6446520"/>
            <a:ext cx="1463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00" b="1">
                <a:solidFill>
                  <a:srgbClr val="2E86C1"/>
                </a:solidFill>
                <a:latin typeface="微软雅黑" panose="020B0503020204020204" charset="-122"/>
                <a:ea typeface="微软雅黑" panose="020B0503020204020204" charset="-122"/>
              </a:rPr>
              <a:t>02 / 16</a:t>
            </a:r>
            <a:endParaRPr sz="1100" b="1">
              <a:solidFill>
                <a:srgbClr val="2E86C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20040"/>
            <a:ext cx="4114800" cy="329184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20040"/>
            <a:ext cx="64008" cy="329184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329184"/>
            <a:ext cx="3931920" cy="310896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400" b="1">
                <a:solidFill>
                  <a:srgbClr val="2E86C1"/>
                </a:solidFill>
                <a:latin typeface="微软雅黑" panose="020B0503020204020204" charset="-122"/>
                <a:ea typeface="微软雅黑" panose="020B0503020204020204" charset="-122"/>
              </a:rPr>
              <a:t>01  </a:t>
            </a:r>
            <a:r>
              <a:rPr sz="1400" b="1">
                <a:solidFill>
                  <a:srgbClr val="1F3A68"/>
                </a:solidFill>
                <a:latin typeface="微软雅黑" panose="020B0503020204020204" charset="-122"/>
                <a:ea typeface="微软雅黑" panose="020B0503020204020204" charset="-122"/>
              </a:rPr>
              <a:t>/ 项目背景与定位</a:t>
            </a:r>
            <a:endParaRPr sz="1400" b="1">
              <a:solidFill>
                <a:srgbClr val="1F3A6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02920" y="777240"/>
            <a:ext cx="1115568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600" b="1">
                <a:solidFill>
                  <a:srgbClr val="1F3A68"/>
                </a:solidFill>
                <a:latin typeface="微软雅黑" panose="020B0503020204020204" charset="-122"/>
                <a:ea typeface="微软雅黑" panose="020B0503020204020204" charset="-122"/>
              </a:rPr>
              <a:t>项目背景与痛点</a:t>
            </a:r>
            <a:endParaRPr sz="3600" b="1">
              <a:solidFill>
                <a:srgbClr val="1F3A6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02920" y="1325880"/>
            <a:ext cx="111556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>
                <a:solidFill>
                  <a:srgbClr val="566573"/>
                </a:solidFill>
                <a:latin typeface="微软雅黑" panose="020B0503020204020204" charset="-122"/>
                <a:ea typeface="微软雅黑" panose="020B0503020204020204" charset="-122"/>
              </a:rPr>
              <a:t>Why Shop Agent</a:t>
            </a:r>
            <a:endParaRPr sz="1400" b="0">
              <a:solidFill>
                <a:srgbClr val="56657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502920" y="1783080"/>
            <a:ext cx="11155680" cy="27432"/>
          </a:xfrm>
          <a:prstGeom prst="rect">
            <a:avLst/>
          </a:prstGeom>
          <a:solidFill>
            <a:srgbClr val="E5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02920" y="2057400"/>
            <a:ext cx="5532120" cy="2377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2057400"/>
            <a:ext cx="64008" cy="2377440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2194560"/>
            <a:ext cx="52120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>
                <a:solidFill>
                  <a:srgbClr val="1F3A68"/>
                </a:solidFill>
                <a:latin typeface="微软雅黑" panose="020B0503020204020204" charset="-122"/>
                <a:ea typeface="微软雅黑" panose="020B0503020204020204" charset="-122"/>
              </a:rPr>
              <a:t>电商客服现状</a:t>
            </a:r>
            <a:endParaRPr sz="2000" b="1">
              <a:solidFill>
                <a:srgbClr val="1F3A6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731520" y="2606040"/>
            <a:ext cx="5212080" cy="182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>
                <a:solidFill>
                  <a:srgbClr val="2E86C1"/>
                </a:solidFill>
                <a:latin typeface="微软雅黑" panose="020B0503020204020204" charset="-122"/>
                <a:ea typeface="微软雅黑" panose="020B0503020204020204" charset="-122"/>
              </a:rPr>
              <a:t>● </a:t>
            </a:r>
            <a:r>
              <a:rPr sz="1500" b="0">
                <a:solidFill>
                  <a:srgbClr val="2C3E50"/>
                </a:solidFill>
                <a:latin typeface="微软雅黑" panose="020B0503020204020204" charset="-122"/>
                <a:ea typeface="微软雅黑" panose="020B0503020204020204" charset="-122"/>
              </a:rPr>
              <a:t>SKU 规模增长，人工客服成本高、响应慢</a:t>
            </a:r>
            <a:endParaRPr sz="1500" b="0">
              <a:solidFill>
                <a:srgbClr val="2C3E50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20000"/>
              </a:lnSpc>
            </a:pPr>
            <a:r>
              <a:rPr sz="1500" b="1">
                <a:solidFill>
                  <a:srgbClr val="2E86C1"/>
                </a:solidFill>
                <a:latin typeface="微软雅黑" panose="020B0503020204020204" charset="-122"/>
                <a:ea typeface="微软雅黑" panose="020B0503020204020204" charset="-122"/>
              </a:rPr>
              <a:t>● </a:t>
            </a:r>
            <a:r>
              <a:rPr sz="1500" b="0">
                <a:solidFill>
                  <a:srgbClr val="2C3E50"/>
                </a:solidFill>
                <a:latin typeface="微软雅黑" panose="020B0503020204020204" charset="-122"/>
                <a:ea typeface="微软雅黑" panose="020B0503020204020204" charset="-122"/>
              </a:rPr>
              <a:t>24×7 在线服务难以全人工覆盖</a:t>
            </a:r>
            <a:endParaRPr sz="1500" b="0">
              <a:solidFill>
                <a:srgbClr val="2C3E50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20000"/>
              </a:lnSpc>
            </a:pPr>
            <a:r>
              <a:rPr sz="1500" b="1">
                <a:solidFill>
                  <a:srgbClr val="2E86C1"/>
                </a:solidFill>
                <a:latin typeface="微软雅黑" panose="020B0503020204020204" charset="-122"/>
                <a:ea typeface="微软雅黑" panose="020B0503020204020204" charset="-122"/>
              </a:rPr>
              <a:t>● </a:t>
            </a:r>
            <a:r>
              <a:rPr sz="1500" b="0">
                <a:solidFill>
                  <a:srgbClr val="2C3E50"/>
                </a:solidFill>
                <a:latin typeface="微软雅黑" panose="020B0503020204020204" charset="-122"/>
                <a:ea typeface="微软雅黑" panose="020B0503020204020204" charset="-122"/>
              </a:rPr>
              <a:t>标准化问题（订单查询 / 商品推荐）占比高</a:t>
            </a:r>
            <a:endParaRPr sz="1500" b="0">
              <a:solidFill>
                <a:srgbClr val="2C3E5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6172200" y="2057400"/>
            <a:ext cx="5532120" cy="2377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72200" y="2057400"/>
            <a:ext cx="64008" cy="2377440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0" y="2194560"/>
            <a:ext cx="52120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>
                <a:solidFill>
                  <a:srgbClr val="1F3A68"/>
                </a:solidFill>
                <a:latin typeface="微软雅黑" panose="020B0503020204020204" charset="-122"/>
                <a:ea typeface="微软雅黑" panose="020B0503020204020204" charset="-122"/>
              </a:rPr>
              <a:t>LLM 直接应用的挑战</a:t>
            </a:r>
            <a:endParaRPr sz="2000" b="1">
              <a:solidFill>
                <a:srgbClr val="1F3A6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6400800" y="2606040"/>
            <a:ext cx="5212080" cy="182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>
                <a:solidFill>
                  <a:srgbClr val="2E86C1"/>
                </a:solidFill>
                <a:latin typeface="微软雅黑" panose="020B0503020204020204" charset="-122"/>
                <a:ea typeface="微软雅黑" panose="020B0503020204020204" charset="-122"/>
              </a:rPr>
              <a:t>● </a:t>
            </a:r>
            <a:r>
              <a:rPr sz="1500" b="0">
                <a:solidFill>
                  <a:srgbClr val="2C3E50"/>
                </a:solidFill>
                <a:latin typeface="微软雅黑" panose="020B0503020204020204" charset="-122"/>
                <a:ea typeface="微软雅黑" panose="020B0503020204020204" charset="-122"/>
              </a:rPr>
              <a:t>没有工具调用，无法访问订单数据库</a:t>
            </a:r>
            <a:endParaRPr sz="1500" b="0">
              <a:solidFill>
                <a:srgbClr val="2C3E50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20000"/>
              </a:lnSpc>
            </a:pPr>
            <a:r>
              <a:rPr sz="1500" b="1">
                <a:solidFill>
                  <a:srgbClr val="2E86C1"/>
                </a:solidFill>
                <a:latin typeface="微软雅黑" panose="020B0503020204020204" charset="-122"/>
                <a:ea typeface="微软雅黑" panose="020B0503020204020204" charset="-122"/>
              </a:rPr>
              <a:t>● </a:t>
            </a:r>
            <a:r>
              <a:rPr sz="1500" b="0">
                <a:solidFill>
                  <a:srgbClr val="2C3E50"/>
                </a:solidFill>
                <a:latin typeface="微软雅黑" panose="020B0503020204020204" charset="-122"/>
                <a:ea typeface="微软雅黑" panose="020B0503020204020204" charset="-122"/>
              </a:rPr>
              <a:t>缺少检索增强，无法给出真实商品推荐</a:t>
            </a:r>
            <a:endParaRPr sz="1500" b="0">
              <a:solidFill>
                <a:srgbClr val="2C3E50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20000"/>
              </a:lnSpc>
            </a:pPr>
            <a:r>
              <a:rPr sz="1500" b="1">
                <a:solidFill>
                  <a:srgbClr val="2E86C1"/>
                </a:solidFill>
                <a:latin typeface="微软雅黑" panose="020B0503020204020204" charset="-122"/>
                <a:ea typeface="微软雅黑" panose="020B0503020204020204" charset="-122"/>
              </a:rPr>
              <a:t>● </a:t>
            </a:r>
            <a:r>
              <a:rPr sz="1500" b="0">
                <a:solidFill>
                  <a:srgbClr val="2C3E50"/>
                </a:solidFill>
                <a:latin typeface="微软雅黑" panose="020B0503020204020204" charset="-122"/>
                <a:ea typeface="微软雅黑" panose="020B0503020204020204" charset="-122"/>
              </a:rPr>
              <a:t>上下文暴涨，Token 与延迟线性恶化</a:t>
            </a:r>
            <a:endParaRPr sz="1500" b="0">
              <a:solidFill>
                <a:srgbClr val="2C3E5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502920" y="4709160"/>
            <a:ext cx="11201400" cy="137160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1F3A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02920" y="4709160"/>
            <a:ext cx="91440" cy="1371600"/>
          </a:xfrm>
          <a:prstGeom prst="rect">
            <a:avLst/>
          </a:prstGeom>
          <a:solidFill>
            <a:srgbClr val="1F3A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4846320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>
                <a:solidFill>
                  <a:srgbClr val="1F3A68"/>
                </a:solidFill>
                <a:latin typeface="微软雅黑" panose="020B0503020204020204" charset="-122"/>
                <a:ea typeface="微软雅黑" panose="020B0503020204020204" charset="-122"/>
              </a:rPr>
              <a:t>→ 解决方案</a:t>
            </a:r>
            <a:endParaRPr sz="2000" b="1">
              <a:solidFill>
                <a:srgbClr val="1F3A6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777240" y="5303520"/>
            <a:ext cx="1088136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0">
                <a:solidFill>
                  <a:srgbClr val="2C3E50"/>
                </a:solidFill>
                <a:latin typeface="微软雅黑" panose="020B0503020204020204" charset="-122"/>
                <a:ea typeface="微软雅黑" panose="020B0503020204020204" charset="-122"/>
              </a:rPr>
              <a:t>在大模型之上叠加三层能力：Tool Calling 接数据库、RAG 接知识库、Agent Memory 压长上下文。</a:t>
            </a:r>
            <a:endParaRPr sz="1600" b="0">
              <a:solidFill>
                <a:srgbClr val="2C3E5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502920" y="644652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>
                <a:solidFill>
                  <a:srgbClr val="566573"/>
                </a:solidFill>
                <a:latin typeface="微软雅黑" panose="020B0503020204020204" charset="-122"/>
                <a:ea typeface="微软雅黑" panose="020B0503020204020204" charset="-122"/>
              </a:rPr>
              <a:t>Shop Agent · 电商管理客服系统 · 课程汇报</a:t>
            </a:r>
            <a:endParaRPr sz="1100" b="0">
              <a:solidFill>
                <a:srgbClr val="56657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10241280" y="6446520"/>
            <a:ext cx="1463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00" b="1">
                <a:solidFill>
                  <a:srgbClr val="2E86C1"/>
                </a:solidFill>
                <a:latin typeface="微软雅黑" panose="020B0503020204020204" charset="-122"/>
                <a:ea typeface="微软雅黑" panose="020B0503020204020204" charset="-122"/>
              </a:rPr>
              <a:t>03 / 16</a:t>
            </a:r>
            <a:endParaRPr sz="1100" b="1">
              <a:solidFill>
                <a:srgbClr val="2E86C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20040"/>
            <a:ext cx="4114800" cy="329184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20040"/>
            <a:ext cx="64008" cy="329184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329184"/>
            <a:ext cx="3931920" cy="310896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400" b="1">
                <a:solidFill>
                  <a:srgbClr val="2E86C1"/>
                </a:solidFill>
                <a:latin typeface="微软雅黑" panose="020B0503020204020204" charset="-122"/>
                <a:ea typeface="微软雅黑" panose="020B0503020204020204" charset="-122"/>
              </a:rPr>
              <a:t>01  </a:t>
            </a:r>
            <a:r>
              <a:rPr sz="1400" b="1">
                <a:solidFill>
                  <a:srgbClr val="1F3A68"/>
                </a:solidFill>
                <a:latin typeface="微软雅黑" panose="020B0503020204020204" charset="-122"/>
                <a:ea typeface="微软雅黑" panose="020B0503020204020204" charset="-122"/>
              </a:rPr>
              <a:t>/ 项目背景与定位</a:t>
            </a:r>
            <a:endParaRPr sz="1400" b="1">
              <a:solidFill>
                <a:srgbClr val="1F3A6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02920" y="777240"/>
            <a:ext cx="1115568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600" b="1">
                <a:solidFill>
                  <a:srgbClr val="1F3A68"/>
                </a:solidFill>
                <a:latin typeface="微软雅黑" panose="020B0503020204020204" charset="-122"/>
                <a:ea typeface="微软雅黑" panose="020B0503020204020204" charset="-122"/>
              </a:rPr>
              <a:t>项目定位与目标</a:t>
            </a:r>
            <a:endParaRPr sz="3600" b="1">
              <a:solidFill>
                <a:srgbClr val="1F3A6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02920" y="1325880"/>
            <a:ext cx="111556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>
                <a:solidFill>
                  <a:srgbClr val="566573"/>
                </a:solidFill>
                <a:latin typeface="微软雅黑" panose="020B0503020204020204" charset="-122"/>
                <a:ea typeface="微软雅黑" panose="020B0503020204020204" charset="-122"/>
              </a:rPr>
              <a:t>Goal &amp; Scope</a:t>
            </a:r>
            <a:endParaRPr sz="1400" b="0">
              <a:solidFill>
                <a:srgbClr val="56657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502920" y="1783080"/>
            <a:ext cx="11155680" cy="27432"/>
          </a:xfrm>
          <a:prstGeom prst="rect">
            <a:avLst/>
          </a:prstGeom>
          <a:solidFill>
            <a:srgbClr val="E5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02920" y="2057400"/>
            <a:ext cx="5532120" cy="3931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2057400"/>
            <a:ext cx="64008" cy="3931920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2194560"/>
            <a:ext cx="52120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>
                <a:solidFill>
                  <a:srgbClr val="1F3A68"/>
                </a:solidFill>
                <a:latin typeface="微软雅黑" panose="020B0503020204020204" charset="-122"/>
                <a:ea typeface="微软雅黑" panose="020B0503020204020204" charset="-122"/>
              </a:rPr>
              <a:t>项目定位</a:t>
            </a:r>
            <a:endParaRPr sz="2000" b="1">
              <a:solidFill>
                <a:srgbClr val="1F3A6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731520" y="2651760"/>
            <a:ext cx="521208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>
                <a:solidFill>
                  <a:srgbClr val="2C3E50"/>
                </a:solidFill>
                <a:latin typeface="微软雅黑" panose="020B0503020204020204" charset="-122"/>
                <a:ea typeface="微软雅黑" panose="020B0503020204020204" charset="-122"/>
              </a:rPr>
              <a:t>面向中小型电商的极简可落地智能客服雏形，覆盖从 API 到前端的完整链路。</a:t>
            </a:r>
            <a:endParaRPr sz="1500" b="0">
              <a:solidFill>
                <a:srgbClr val="2C3E5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731520" y="3840480"/>
            <a:ext cx="2194560" cy="384048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5E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3886200"/>
            <a:ext cx="219456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00" b="1">
                <a:solidFill>
                  <a:srgbClr val="2E86C1"/>
                </a:solidFill>
                <a:latin typeface="微软雅黑" panose="020B0503020204020204" charset="-122"/>
                <a:ea typeface="微软雅黑" panose="020B0503020204020204" charset="-122"/>
              </a:rPr>
              <a:t>大模型对话</a:t>
            </a:r>
            <a:endParaRPr sz="1300" b="1">
              <a:solidFill>
                <a:srgbClr val="2E86C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3108960" y="3840480"/>
            <a:ext cx="2194560" cy="384048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5E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108960" y="3886200"/>
            <a:ext cx="219456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00" b="1">
                <a:solidFill>
                  <a:srgbClr val="2E86C1"/>
                </a:solidFill>
                <a:latin typeface="微软雅黑" panose="020B0503020204020204" charset="-122"/>
                <a:ea typeface="微软雅黑" panose="020B0503020204020204" charset="-122"/>
              </a:rPr>
              <a:t>工具调用</a:t>
            </a:r>
            <a:endParaRPr sz="1300" b="1">
              <a:solidFill>
                <a:srgbClr val="2E86C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731520" y="4343400"/>
            <a:ext cx="2194560" cy="384048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5E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4389120"/>
            <a:ext cx="219456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00" b="1">
                <a:solidFill>
                  <a:srgbClr val="2E86C1"/>
                </a:solidFill>
                <a:latin typeface="微软雅黑" panose="020B0503020204020204" charset="-122"/>
                <a:ea typeface="微软雅黑" panose="020B0503020204020204" charset="-122"/>
              </a:rPr>
              <a:t>检索增强</a:t>
            </a:r>
            <a:endParaRPr sz="1300" b="1">
              <a:solidFill>
                <a:srgbClr val="2E86C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3108960" y="4343400"/>
            <a:ext cx="2194560" cy="384048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5E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108960" y="4389120"/>
            <a:ext cx="219456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00" b="1">
                <a:solidFill>
                  <a:srgbClr val="2E86C1"/>
                </a:solidFill>
                <a:latin typeface="微软雅黑" panose="020B0503020204020204" charset="-122"/>
                <a:ea typeface="微软雅黑" panose="020B0503020204020204" charset="-122"/>
              </a:rPr>
              <a:t>Agent 记忆</a:t>
            </a:r>
            <a:endParaRPr sz="1300" b="1">
              <a:solidFill>
                <a:srgbClr val="2E86C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6172200" y="2057400"/>
            <a:ext cx="5532120" cy="3931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172200" y="2057400"/>
            <a:ext cx="64008" cy="3931920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0" y="2194560"/>
            <a:ext cx="52120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>
                <a:solidFill>
                  <a:srgbClr val="1F3A68"/>
                </a:solidFill>
                <a:latin typeface="微软雅黑" panose="020B0503020204020204" charset="-122"/>
                <a:ea typeface="微软雅黑" panose="020B0503020204020204" charset="-122"/>
              </a:rPr>
              <a:t>具体目标（全部完成）</a:t>
            </a:r>
            <a:endParaRPr sz="2000" b="1">
              <a:solidFill>
                <a:srgbClr val="1F3A6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6400800" y="2697480"/>
            <a:ext cx="5212080" cy="3200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>
                <a:solidFill>
                  <a:srgbClr val="27AE60"/>
                </a:solidFill>
                <a:latin typeface="微软雅黑" panose="020B0503020204020204" charset="-122"/>
                <a:ea typeface="微软雅黑" panose="020B0503020204020204" charset="-122"/>
              </a:rPr>
              <a:t>● </a:t>
            </a:r>
            <a:r>
              <a:rPr sz="1500" b="0">
                <a:solidFill>
                  <a:srgbClr val="2C3E50"/>
                </a:solidFill>
                <a:latin typeface="微软雅黑" panose="020B0503020204020204" charset="-122"/>
                <a:ea typeface="微软雅黑" panose="020B0503020204020204" charset="-122"/>
              </a:rPr>
              <a:t>✅ 基础对话 API（/api/chat）</a:t>
            </a:r>
            <a:endParaRPr sz="1500" b="0">
              <a:solidFill>
                <a:srgbClr val="2C3E50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20000"/>
              </a:lnSpc>
            </a:pPr>
            <a:r>
              <a:rPr sz="1500" b="1">
                <a:solidFill>
                  <a:srgbClr val="27AE60"/>
                </a:solidFill>
                <a:latin typeface="微软雅黑" panose="020B0503020204020204" charset="-122"/>
                <a:ea typeface="微软雅黑" panose="020B0503020204020204" charset="-122"/>
              </a:rPr>
              <a:t>● </a:t>
            </a:r>
            <a:r>
              <a:rPr sz="1500" b="0">
                <a:solidFill>
                  <a:srgbClr val="2C3E50"/>
                </a:solidFill>
                <a:latin typeface="微软雅黑" panose="020B0503020204020204" charset="-122"/>
                <a:ea typeface="微软雅黑" panose="020B0503020204020204" charset="-122"/>
              </a:rPr>
              <a:t>✅ 工具调用：订单 &amp; 物流查询</a:t>
            </a:r>
            <a:endParaRPr sz="1500" b="0">
              <a:solidFill>
                <a:srgbClr val="2C3E50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20000"/>
              </a:lnSpc>
            </a:pPr>
            <a:r>
              <a:rPr sz="1500" b="1">
                <a:solidFill>
                  <a:srgbClr val="27AE60"/>
                </a:solidFill>
                <a:latin typeface="微软雅黑" panose="020B0503020204020204" charset="-122"/>
                <a:ea typeface="微软雅黑" panose="020B0503020204020204" charset="-122"/>
              </a:rPr>
              <a:t>● </a:t>
            </a:r>
            <a:r>
              <a:rPr sz="1500" b="0">
                <a:solidFill>
                  <a:srgbClr val="2C3E50"/>
                </a:solidFill>
                <a:latin typeface="微软雅黑" panose="020B0503020204020204" charset="-122"/>
                <a:ea typeface="微软雅黑" panose="020B0503020204020204" charset="-122"/>
              </a:rPr>
              <a:t>✅ RAG：基于产品向量库的推荐</a:t>
            </a:r>
            <a:endParaRPr sz="1500" b="0">
              <a:solidFill>
                <a:srgbClr val="2C3E50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20000"/>
              </a:lnSpc>
            </a:pPr>
            <a:r>
              <a:rPr sz="1500" b="1">
                <a:solidFill>
                  <a:srgbClr val="27AE60"/>
                </a:solidFill>
                <a:latin typeface="微软雅黑" panose="020B0503020204020204" charset="-122"/>
                <a:ea typeface="微软雅黑" panose="020B0503020204020204" charset="-122"/>
              </a:rPr>
              <a:t>● </a:t>
            </a:r>
            <a:r>
              <a:rPr sz="1500" b="0">
                <a:solidFill>
                  <a:srgbClr val="2C3E50"/>
                </a:solidFill>
                <a:latin typeface="微软雅黑" panose="020B0503020204020204" charset="-122"/>
                <a:ea typeface="微软雅黑" panose="020B0503020204020204" charset="-122"/>
              </a:rPr>
              <a:t>✅ 意图路由：自动选择合适 Agent</a:t>
            </a:r>
            <a:endParaRPr sz="1500" b="0">
              <a:solidFill>
                <a:srgbClr val="2C3E50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20000"/>
              </a:lnSpc>
            </a:pPr>
            <a:r>
              <a:rPr sz="1500" b="1">
                <a:solidFill>
                  <a:srgbClr val="27AE60"/>
                </a:solidFill>
                <a:latin typeface="微软雅黑" panose="020B0503020204020204" charset="-122"/>
                <a:ea typeface="微软雅黑" panose="020B0503020204020204" charset="-122"/>
              </a:rPr>
              <a:t>● </a:t>
            </a:r>
            <a:r>
              <a:rPr sz="1500" b="0">
                <a:solidFill>
                  <a:srgbClr val="2C3E50"/>
                </a:solidFill>
                <a:latin typeface="微软雅黑" panose="020B0503020204020204" charset="-122"/>
                <a:ea typeface="微软雅黑" panose="020B0503020204020204" charset="-122"/>
              </a:rPr>
              <a:t>✅ Agent Memory：对话历史压缩</a:t>
            </a:r>
            <a:endParaRPr sz="1500" b="0">
              <a:solidFill>
                <a:srgbClr val="2C3E50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20000"/>
              </a:lnSpc>
            </a:pPr>
            <a:r>
              <a:rPr sz="1500" b="1">
                <a:solidFill>
                  <a:srgbClr val="27AE60"/>
                </a:solidFill>
                <a:latin typeface="微软雅黑" panose="020B0503020204020204" charset="-122"/>
                <a:ea typeface="微软雅黑" panose="020B0503020204020204" charset="-122"/>
              </a:rPr>
              <a:t>● </a:t>
            </a:r>
            <a:r>
              <a:rPr sz="1500" b="0">
                <a:solidFill>
                  <a:srgbClr val="2C3E50"/>
                </a:solidFill>
                <a:latin typeface="微软雅黑" panose="020B0503020204020204" charset="-122"/>
                <a:ea typeface="微软雅黑" panose="020B0503020204020204" charset="-122"/>
              </a:rPr>
              <a:t>✅ Streamlit 前端 + JWT 认证</a:t>
            </a:r>
            <a:endParaRPr sz="1500" b="0">
              <a:solidFill>
                <a:srgbClr val="2C3E5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502920" y="644652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>
                <a:solidFill>
                  <a:srgbClr val="566573"/>
                </a:solidFill>
                <a:latin typeface="微软雅黑" panose="020B0503020204020204" charset="-122"/>
                <a:ea typeface="微软雅黑" panose="020B0503020204020204" charset="-122"/>
              </a:rPr>
              <a:t>Shop Agent · 电商管理客服系统 · 课程汇报</a:t>
            </a:r>
            <a:endParaRPr sz="1100" b="0">
              <a:solidFill>
                <a:srgbClr val="56657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10241280" y="6446520"/>
            <a:ext cx="1463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00" b="1">
                <a:solidFill>
                  <a:srgbClr val="2E86C1"/>
                </a:solidFill>
                <a:latin typeface="微软雅黑" panose="020B0503020204020204" charset="-122"/>
                <a:ea typeface="微软雅黑" panose="020B0503020204020204" charset="-122"/>
              </a:rPr>
              <a:t>04 / 16</a:t>
            </a:r>
            <a:endParaRPr sz="1100" b="1">
              <a:solidFill>
                <a:srgbClr val="2E86C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20040"/>
            <a:ext cx="4114800" cy="329184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20040"/>
            <a:ext cx="64008" cy="329184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329184"/>
            <a:ext cx="3931920" cy="310896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400" b="1">
                <a:solidFill>
                  <a:srgbClr val="2E86C1"/>
                </a:solidFill>
                <a:latin typeface="微软雅黑" panose="020B0503020204020204" charset="-122"/>
                <a:ea typeface="微软雅黑" panose="020B0503020204020204" charset="-122"/>
              </a:rPr>
              <a:t>02  </a:t>
            </a:r>
            <a:r>
              <a:rPr sz="1400" b="1">
                <a:solidFill>
                  <a:srgbClr val="1F3A68"/>
                </a:solidFill>
                <a:latin typeface="微软雅黑" panose="020B0503020204020204" charset="-122"/>
                <a:ea typeface="微软雅黑" panose="020B0503020204020204" charset="-122"/>
              </a:rPr>
              <a:t>/ 核心技术实现</a:t>
            </a:r>
            <a:endParaRPr sz="1400" b="1">
              <a:solidFill>
                <a:srgbClr val="1F3A6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02920" y="777240"/>
            <a:ext cx="1115568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600" b="1">
                <a:solidFill>
                  <a:srgbClr val="1F3A68"/>
                </a:solidFill>
                <a:latin typeface="微软雅黑" panose="020B0503020204020204" charset="-122"/>
                <a:ea typeface="微软雅黑" panose="020B0503020204020204" charset="-122"/>
              </a:rPr>
              <a:t>技术栈总览</a:t>
            </a:r>
            <a:endParaRPr sz="3600" b="1">
              <a:solidFill>
                <a:srgbClr val="1F3A6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02920" y="1325880"/>
            <a:ext cx="111556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>
                <a:solidFill>
                  <a:srgbClr val="566573"/>
                </a:solidFill>
                <a:latin typeface="微软雅黑" panose="020B0503020204020204" charset="-122"/>
                <a:ea typeface="微软雅黑" panose="020B0503020204020204" charset="-122"/>
              </a:rPr>
              <a:t>Tech Stack</a:t>
            </a:r>
            <a:endParaRPr sz="1400" b="0">
              <a:solidFill>
                <a:srgbClr val="56657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502920" y="1783080"/>
            <a:ext cx="11155680" cy="27432"/>
          </a:xfrm>
          <a:prstGeom prst="rect">
            <a:avLst/>
          </a:prstGeom>
          <a:solidFill>
            <a:srgbClr val="E5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02920" y="2103120"/>
            <a:ext cx="265176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2304288"/>
            <a:ext cx="265176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700" b="1">
                <a:solidFill>
                  <a:srgbClr val="1F3A68"/>
                </a:solidFill>
                <a:latin typeface="微软雅黑" panose="020B0503020204020204" charset="-122"/>
                <a:ea typeface="微软雅黑" panose="020B0503020204020204" charset="-122"/>
              </a:rPr>
              <a:t>FastAPI</a:t>
            </a:r>
            <a:endParaRPr sz="1700" b="1">
              <a:solidFill>
                <a:srgbClr val="1F3A6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502920" y="2743200"/>
            <a:ext cx="26517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0">
                <a:solidFill>
                  <a:srgbClr val="566573"/>
                </a:solidFill>
                <a:latin typeface="微软雅黑" panose="020B0503020204020204" charset="-122"/>
                <a:ea typeface="微软雅黑" panose="020B0503020204020204" charset="-122"/>
              </a:rPr>
              <a:t>异步 Web 框架</a:t>
            </a:r>
            <a:endParaRPr sz="1200" b="0">
              <a:solidFill>
                <a:srgbClr val="56657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3319272" y="2103120"/>
            <a:ext cx="265176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319272" y="2304288"/>
            <a:ext cx="265176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700" b="1">
                <a:solidFill>
                  <a:srgbClr val="1F3A68"/>
                </a:solidFill>
                <a:latin typeface="微软雅黑" panose="020B0503020204020204" charset="-122"/>
                <a:ea typeface="微软雅黑" panose="020B0503020204020204" charset="-122"/>
              </a:rPr>
              <a:t>DeepSeek API</a:t>
            </a:r>
            <a:endParaRPr sz="1700" b="1">
              <a:solidFill>
                <a:srgbClr val="1F3A6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3319272" y="2743200"/>
            <a:ext cx="26517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0">
                <a:solidFill>
                  <a:srgbClr val="566573"/>
                </a:solidFill>
                <a:latin typeface="微软雅黑" panose="020B0503020204020204" charset="-122"/>
                <a:ea typeface="微软雅黑" panose="020B0503020204020204" charset="-122"/>
              </a:rPr>
              <a:t>大模型（OpenAI 兼容）</a:t>
            </a:r>
            <a:endParaRPr sz="1200" b="0">
              <a:solidFill>
                <a:srgbClr val="56657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6135624" y="2103120"/>
            <a:ext cx="265176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35624" y="2304288"/>
            <a:ext cx="265176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700" b="1">
                <a:solidFill>
                  <a:srgbClr val="1F3A68"/>
                </a:solidFill>
                <a:latin typeface="微软雅黑" panose="020B0503020204020204" charset="-122"/>
                <a:ea typeface="微软雅黑" panose="020B0503020204020204" charset="-122"/>
              </a:rPr>
              <a:t>SiliconFlow</a:t>
            </a:r>
            <a:endParaRPr sz="1700" b="1">
              <a:solidFill>
                <a:srgbClr val="1F3A6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6135624" y="2743200"/>
            <a:ext cx="26517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0">
                <a:solidFill>
                  <a:srgbClr val="566573"/>
                </a:solidFill>
                <a:latin typeface="微软雅黑" panose="020B0503020204020204" charset="-122"/>
                <a:ea typeface="微软雅黑" panose="020B0503020204020204" charset="-122"/>
              </a:rPr>
              <a:t>Embedding 服务</a:t>
            </a:r>
            <a:endParaRPr sz="1200" b="0">
              <a:solidFill>
                <a:srgbClr val="56657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8951976" y="2103120"/>
            <a:ext cx="265176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951976" y="2304288"/>
            <a:ext cx="265176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700" b="1">
                <a:solidFill>
                  <a:srgbClr val="1F3A68"/>
                </a:solidFill>
                <a:latin typeface="微软雅黑" panose="020B0503020204020204" charset="-122"/>
                <a:ea typeface="微软雅黑" panose="020B0503020204020204" charset="-122"/>
              </a:rPr>
              <a:t>ChromaDB</a:t>
            </a:r>
            <a:endParaRPr sz="1700" b="1">
              <a:solidFill>
                <a:srgbClr val="1F3A6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8951976" y="2743200"/>
            <a:ext cx="26517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0">
                <a:solidFill>
                  <a:srgbClr val="566573"/>
                </a:solidFill>
                <a:latin typeface="微软雅黑" panose="020B0503020204020204" charset="-122"/>
                <a:ea typeface="微软雅黑" panose="020B0503020204020204" charset="-122"/>
              </a:rPr>
              <a:t>向量数据库</a:t>
            </a:r>
            <a:endParaRPr sz="1200" b="0">
              <a:solidFill>
                <a:srgbClr val="56657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502920" y="3337559"/>
            <a:ext cx="265176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2920" y="3538727"/>
            <a:ext cx="265176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700" b="1">
                <a:solidFill>
                  <a:srgbClr val="1F3A68"/>
                </a:solidFill>
                <a:latin typeface="微软雅黑" panose="020B0503020204020204" charset="-122"/>
                <a:ea typeface="微软雅黑" panose="020B0503020204020204" charset="-122"/>
              </a:rPr>
              <a:t>SQLAlchemy</a:t>
            </a:r>
            <a:endParaRPr sz="1700" b="1">
              <a:solidFill>
                <a:srgbClr val="1F3A6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502920" y="3977639"/>
            <a:ext cx="26517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0">
                <a:solidFill>
                  <a:srgbClr val="566573"/>
                </a:solidFill>
                <a:latin typeface="微软雅黑" panose="020B0503020204020204" charset="-122"/>
                <a:ea typeface="微软雅黑" panose="020B0503020204020204" charset="-122"/>
              </a:rPr>
              <a:t>ORM / SQLite</a:t>
            </a:r>
            <a:endParaRPr sz="1200" b="0">
              <a:solidFill>
                <a:srgbClr val="56657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" name="Rounded Rectangle 22"/>
          <p:cNvSpPr/>
          <p:nvPr/>
        </p:nvSpPr>
        <p:spPr>
          <a:xfrm>
            <a:off x="3319272" y="3337559"/>
            <a:ext cx="265176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319272" y="3538727"/>
            <a:ext cx="265176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700" b="1">
                <a:solidFill>
                  <a:srgbClr val="1F3A68"/>
                </a:solidFill>
                <a:latin typeface="微软雅黑" panose="020B0503020204020204" charset="-122"/>
                <a:ea typeface="微软雅黑" panose="020B0503020204020204" charset="-122"/>
              </a:rPr>
              <a:t>Pydantic v2</a:t>
            </a:r>
            <a:endParaRPr sz="1700" b="1">
              <a:solidFill>
                <a:srgbClr val="1F3A6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3319272" y="3977639"/>
            <a:ext cx="26517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0">
                <a:solidFill>
                  <a:srgbClr val="566573"/>
                </a:solidFill>
                <a:latin typeface="微软雅黑" panose="020B0503020204020204" charset="-122"/>
                <a:ea typeface="微软雅黑" panose="020B0503020204020204" charset="-122"/>
              </a:rPr>
              <a:t>数据校验 &amp; 配置</a:t>
            </a:r>
            <a:endParaRPr sz="1200" b="0">
              <a:solidFill>
                <a:srgbClr val="56657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6" name="Rounded Rectangle 25"/>
          <p:cNvSpPr/>
          <p:nvPr/>
        </p:nvSpPr>
        <p:spPr>
          <a:xfrm>
            <a:off x="6135624" y="3337559"/>
            <a:ext cx="265176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135624" y="3538727"/>
            <a:ext cx="265176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700" b="1">
                <a:solidFill>
                  <a:srgbClr val="1F3A68"/>
                </a:solidFill>
                <a:latin typeface="微软雅黑" panose="020B0503020204020204" charset="-122"/>
                <a:ea typeface="微软雅黑" panose="020B0503020204020204" charset="-122"/>
              </a:rPr>
              <a:t>Streamlit</a:t>
            </a:r>
            <a:endParaRPr sz="1700" b="1">
              <a:solidFill>
                <a:srgbClr val="1F3A6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6135624" y="3977639"/>
            <a:ext cx="26517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0">
                <a:solidFill>
                  <a:srgbClr val="566573"/>
                </a:solidFill>
                <a:latin typeface="微软雅黑" panose="020B0503020204020204" charset="-122"/>
                <a:ea typeface="微软雅黑" panose="020B0503020204020204" charset="-122"/>
              </a:rPr>
              <a:t>前端聊天界面</a:t>
            </a:r>
            <a:endParaRPr sz="1200" b="0">
              <a:solidFill>
                <a:srgbClr val="56657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9" name="Rounded Rectangle 28"/>
          <p:cNvSpPr/>
          <p:nvPr/>
        </p:nvSpPr>
        <p:spPr>
          <a:xfrm>
            <a:off x="8951976" y="3337559"/>
            <a:ext cx="265176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951976" y="3538727"/>
            <a:ext cx="265176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700" b="1">
                <a:solidFill>
                  <a:srgbClr val="1F3A68"/>
                </a:solidFill>
                <a:latin typeface="微软雅黑" panose="020B0503020204020204" charset="-122"/>
                <a:ea typeface="微软雅黑" panose="020B0503020204020204" charset="-122"/>
              </a:rPr>
              <a:t>Uvicorn</a:t>
            </a:r>
            <a:endParaRPr sz="1700" b="1">
              <a:solidFill>
                <a:srgbClr val="1F3A6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8951976" y="3977639"/>
            <a:ext cx="26517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0">
                <a:solidFill>
                  <a:srgbClr val="566573"/>
                </a:solidFill>
                <a:latin typeface="微软雅黑" panose="020B0503020204020204" charset="-122"/>
                <a:ea typeface="微软雅黑" panose="020B0503020204020204" charset="-122"/>
              </a:rPr>
              <a:t>ASGI 服务器</a:t>
            </a:r>
            <a:endParaRPr sz="1200" b="0">
              <a:solidFill>
                <a:srgbClr val="56657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2" name="Rounded Rectangle 31"/>
          <p:cNvSpPr/>
          <p:nvPr/>
        </p:nvSpPr>
        <p:spPr>
          <a:xfrm>
            <a:off x="502920" y="4892040"/>
            <a:ext cx="11201400" cy="11887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5E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77240" y="5029200"/>
            <a:ext cx="107899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>
                <a:solidFill>
                  <a:srgbClr val="1F3A68"/>
                </a:solidFill>
                <a:latin typeface="微软雅黑" panose="020B0503020204020204" charset="-122"/>
                <a:ea typeface="微软雅黑" panose="020B0503020204020204" charset="-122"/>
              </a:rPr>
              <a:t>工程化支撑</a:t>
            </a:r>
            <a:endParaRPr sz="1800" b="1">
              <a:solidFill>
                <a:srgbClr val="1F3A6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777240" y="5486400"/>
            <a:ext cx="1078992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>
                <a:solidFill>
                  <a:srgbClr val="2C3E50"/>
                </a:solidFill>
                <a:latin typeface="微软雅黑" panose="020B0503020204020204" charset="-122"/>
                <a:ea typeface="微软雅黑" panose="020B0503020204020204" charset="-122"/>
              </a:rPr>
              <a:t>启动配置校验  ·  请求日志中间件  ·  速率限制中间件  ·  全局异常处理  ·  psutil 监控端点</a:t>
            </a:r>
            <a:endParaRPr sz="1400" b="0">
              <a:solidFill>
                <a:srgbClr val="2C3E5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502920" y="644652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>
                <a:solidFill>
                  <a:srgbClr val="566573"/>
                </a:solidFill>
                <a:latin typeface="微软雅黑" panose="020B0503020204020204" charset="-122"/>
                <a:ea typeface="微软雅黑" panose="020B0503020204020204" charset="-122"/>
              </a:rPr>
              <a:t>Shop Agent · 电商管理客服系统 · 课程汇报</a:t>
            </a:r>
            <a:endParaRPr sz="1100" b="0">
              <a:solidFill>
                <a:srgbClr val="56657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10241280" y="6446520"/>
            <a:ext cx="1463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00" b="1">
                <a:solidFill>
                  <a:srgbClr val="2E86C1"/>
                </a:solidFill>
                <a:latin typeface="微软雅黑" panose="020B0503020204020204" charset="-122"/>
                <a:ea typeface="微软雅黑" panose="020B0503020204020204" charset="-122"/>
              </a:rPr>
              <a:t>05 / 16</a:t>
            </a:r>
            <a:endParaRPr sz="1100" b="1">
              <a:solidFill>
                <a:srgbClr val="2E86C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20040"/>
            <a:ext cx="4114800" cy="329184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20040"/>
            <a:ext cx="64008" cy="329184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329184"/>
            <a:ext cx="3931920" cy="310896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400" b="1">
                <a:solidFill>
                  <a:srgbClr val="2E86C1"/>
                </a:solidFill>
                <a:latin typeface="微软雅黑" panose="020B0503020204020204" charset="-122"/>
                <a:ea typeface="微软雅黑" panose="020B0503020204020204" charset="-122"/>
              </a:rPr>
              <a:t>02  </a:t>
            </a:r>
            <a:r>
              <a:rPr sz="1400" b="1">
                <a:solidFill>
                  <a:srgbClr val="1F3A68"/>
                </a:solidFill>
                <a:latin typeface="微软雅黑" panose="020B0503020204020204" charset="-122"/>
                <a:ea typeface="微软雅黑" panose="020B0503020204020204" charset="-122"/>
              </a:rPr>
              <a:t>/ 核心技术实现</a:t>
            </a:r>
            <a:endParaRPr sz="1400" b="1">
              <a:solidFill>
                <a:srgbClr val="1F3A6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02920" y="777240"/>
            <a:ext cx="1115568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600" b="1">
                <a:solidFill>
                  <a:srgbClr val="1F3A68"/>
                </a:solidFill>
                <a:latin typeface="微软雅黑" panose="020B0503020204020204" charset="-122"/>
                <a:ea typeface="微软雅黑" panose="020B0503020204020204" charset="-122"/>
              </a:rPr>
              <a:t>系统整体架构</a:t>
            </a:r>
            <a:endParaRPr sz="3600" b="1">
              <a:solidFill>
                <a:srgbClr val="1F3A6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02920" y="1325880"/>
            <a:ext cx="111556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>
                <a:solidFill>
                  <a:srgbClr val="566573"/>
                </a:solidFill>
                <a:latin typeface="微软雅黑" panose="020B0503020204020204" charset="-122"/>
                <a:ea typeface="微软雅黑" panose="020B0503020204020204" charset="-122"/>
              </a:rPr>
              <a:t>Layered Architecture · 四层解耦</a:t>
            </a:r>
            <a:endParaRPr sz="1400" b="0">
              <a:solidFill>
                <a:srgbClr val="56657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502920" y="1783080"/>
            <a:ext cx="11155680" cy="27432"/>
          </a:xfrm>
          <a:prstGeom prst="rect">
            <a:avLst/>
          </a:prstGeom>
          <a:solidFill>
            <a:srgbClr val="E5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diagram-architectur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2358884"/>
            <a:ext cx="5120640" cy="3603271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5852160" y="2057400"/>
            <a:ext cx="5852160" cy="9875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852160" y="2057400"/>
            <a:ext cx="64008" cy="987552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053328" y="2167128"/>
            <a:ext cx="557784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1F3A68"/>
                </a:solidFill>
                <a:latin typeface="微软雅黑" panose="020B0503020204020204" charset="-122"/>
                <a:ea typeface="微软雅黑" panose="020B0503020204020204" charset="-122"/>
              </a:rPr>
              <a:t>① 展示层 Presentation</a:t>
            </a:r>
            <a:endParaRPr sz="1500" b="1">
              <a:solidFill>
                <a:srgbClr val="1F3A6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053328" y="2587752"/>
            <a:ext cx="5577840" cy="4206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2C3E50"/>
                </a:solidFill>
                <a:latin typeface="微软雅黑" panose="020B0503020204020204" charset="-122"/>
                <a:ea typeface="微软雅黑" panose="020B0503020204020204" charset="-122"/>
              </a:rPr>
              <a:t>微信小程序（正式演示） + Streamlit（开发联调）</a:t>
            </a:r>
            <a:endParaRPr sz="1200" b="0">
              <a:solidFill>
                <a:srgbClr val="2C3E5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5852160" y="3154680"/>
            <a:ext cx="5852160" cy="9875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852160" y="3154680"/>
            <a:ext cx="64008" cy="987552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053328" y="3264408"/>
            <a:ext cx="557784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1F3A68"/>
                </a:solidFill>
                <a:latin typeface="微软雅黑" panose="020B0503020204020204" charset="-122"/>
                <a:ea typeface="微软雅黑" panose="020B0503020204020204" charset="-122"/>
              </a:rPr>
              <a:t>② 接口与网关层 API Gateway</a:t>
            </a:r>
            <a:endParaRPr sz="1500" b="1">
              <a:solidFill>
                <a:srgbClr val="1F3A6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6053328" y="3685032"/>
            <a:ext cx="5577840" cy="4206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2C3E50"/>
                </a:solidFill>
                <a:latin typeface="微软雅黑" panose="020B0503020204020204" charset="-122"/>
                <a:ea typeface="微软雅黑" panose="020B0503020204020204" charset="-122"/>
              </a:rPr>
              <a:t>FastAPI REST + 鉴权 / 限流 / 日志中间件</a:t>
            </a:r>
            <a:endParaRPr sz="1200" b="0">
              <a:solidFill>
                <a:srgbClr val="2C3E5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5852160" y="4251960"/>
            <a:ext cx="5852160" cy="9875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852160" y="4251960"/>
            <a:ext cx="64008" cy="987552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053328" y="4361688"/>
            <a:ext cx="557784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1F3A68"/>
                </a:solidFill>
                <a:latin typeface="微软雅黑" panose="020B0503020204020204" charset="-122"/>
                <a:ea typeface="微软雅黑" panose="020B0503020204020204" charset="-122"/>
              </a:rPr>
              <a:t>③ 智能业务层 AI &amp; Agent</a:t>
            </a:r>
            <a:endParaRPr sz="1500" b="1">
              <a:solidFill>
                <a:srgbClr val="1F3A6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6053328" y="4782312"/>
            <a:ext cx="5577840" cy="4206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2C3E50"/>
                </a:solidFill>
                <a:latin typeface="微软雅黑" panose="020B0503020204020204" charset="-122"/>
                <a:ea typeface="微软雅黑" panose="020B0503020204020204" charset="-122"/>
              </a:rPr>
              <a:t>RouterAgent → Order · RAG · General，旁挂 AgentMemory</a:t>
            </a:r>
            <a:endParaRPr sz="1200" b="0">
              <a:solidFill>
                <a:srgbClr val="2C3E5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" name="Rounded Rectangle 20"/>
          <p:cNvSpPr/>
          <p:nvPr/>
        </p:nvSpPr>
        <p:spPr>
          <a:xfrm>
            <a:off x="5852160" y="5349240"/>
            <a:ext cx="5852160" cy="9875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852160" y="5349240"/>
            <a:ext cx="64008" cy="987552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053328" y="5458968"/>
            <a:ext cx="557784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1F3A68"/>
                </a:solidFill>
                <a:latin typeface="微软雅黑" panose="020B0503020204020204" charset="-122"/>
                <a:ea typeface="微软雅黑" panose="020B0503020204020204" charset="-122"/>
              </a:rPr>
              <a:t>④ 数据与持久层 Data</a:t>
            </a:r>
            <a:endParaRPr sz="1500" b="1">
              <a:solidFill>
                <a:srgbClr val="1F3A6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6053328" y="5879592"/>
            <a:ext cx="5577840" cy="4206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2C3E50"/>
                </a:solidFill>
                <a:latin typeface="微软雅黑" panose="020B0503020204020204" charset="-122"/>
                <a:ea typeface="微软雅黑" panose="020B0503020204020204" charset="-122"/>
              </a:rPr>
              <a:t>SQLite 关系型业务数据 + ChromaDB 商品向量库</a:t>
            </a:r>
            <a:endParaRPr sz="1200" b="0">
              <a:solidFill>
                <a:srgbClr val="2C3E5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502920" y="644652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>
                <a:solidFill>
                  <a:srgbClr val="566573"/>
                </a:solidFill>
                <a:latin typeface="微软雅黑" panose="020B0503020204020204" charset="-122"/>
                <a:ea typeface="微软雅黑" panose="020B0503020204020204" charset="-122"/>
              </a:rPr>
              <a:t>Shop Agent · 电商管理客服系统 · 课程汇报</a:t>
            </a:r>
            <a:endParaRPr sz="1100" b="0">
              <a:solidFill>
                <a:srgbClr val="56657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10241280" y="6446520"/>
            <a:ext cx="1463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00" b="1">
                <a:solidFill>
                  <a:srgbClr val="2E86C1"/>
                </a:solidFill>
                <a:latin typeface="微软雅黑" panose="020B0503020204020204" charset="-122"/>
                <a:ea typeface="微软雅黑" panose="020B0503020204020204" charset="-122"/>
              </a:rPr>
              <a:t>06 / 16</a:t>
            </a:r>
            <a:endParaRPr sz="1100" b="1">
              <a:solidFill>
                <a:srgbClr val="2E86C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20040"/>
            <a:ext cx="4114800" cy="329184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20040"/>
            <a:ext cx="64008" cy="329184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329184"/>
            <a:ext cx="3931920" cy="310896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400" b="1">
                <a:solidFill>
                  <a:srgbClr val="2E86C1"/>
                </a:solidFill>
                <a:latin typeface="微软雅黑" panose="020B0503020204020204" charset="-122"/>
                <a:ea typeface="微软雅黑" panose="020B0503020204020204" charset="-122"/>
              </a:rPr>
              <a:t>02  </a:t>
            </a:r>
            <a:r>
              <a:rPr sz="1400" b="1">
                <a:solidFill>
                  <a:srgbClr val="1F3A68"/>
                </a:solidFill>
                <a:latin typeface="微软雅黑" panose="020B0503020204020204" charset="-122"/>
                <a:ea typeface="微软雅黑" panose="020B0503020204020204" charset="-122"/>
              </a:rPr>
              <a:t>/ 核心技术实现</a:t>
            </a:r>
            <a:endParaRPr sz="1400" b="1">
              <a:solidFill>
                <a:srgbClr val="1F3A6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02920" y="777240"/>
            <a:ext cx="1115568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600" b="1">
                <a:solidFill>
                  <a:srgbClr val="1F3A68"/>
                </a:solidFill>
                <a:latin typeface="微软雅黑" panose="020B0503020204020204" charset="-122"/>
                <a:ea typeface="微软雅黑" panose="020B0503020204020204" charset="-122"/>
              </a:rPr>
              <a:t>核心技术（一）Tool Calling</a:t>
            </a:r>
            <a:endParaRPr sz="3600" b="1">
              <a:solidFill>
                <a:srgbClr val="1F3A6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02920" y="1325880"/>
            <a:ext cx="111556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>
                <a:solidFill>
                  <a:srgbClr val="566573"/>
                </a:solidFill>
                <a:latin typeface="微软雅黑" panose="020B0503020204020204" charset="-122"/>
                <a:ea typeface="微软雅黑" panose="020B0503020204020204" charset="-122"/>
              </a:rPr>
              <a:t>订单查询 Agent · UML 时序</a:t>
            </a:r>
            <a:endParaRPr sz="1400" b="0">
              <a:solidFill>
                <a:srgbClr val="56657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502920" y="1783080"/>
            <a:ext cx="11155680" cy="27432"/>
          </a:xfrm>
          <a:prstGeom prst="rect">
            <a:avLst/>
          </a:prstGeom>
          <a:solidFill>
            <a:srgbClr val="E5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diagram-tool-calling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605462" y="2011680"/>
            <a:ext cx="2470034" cy="425196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7406640" y="2011680"/>
            <a:ext cx="434340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406640" y="2011680"/>
            <a:ext cx="64008" cy="2011680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589519" y="2103120"/>
            <a:ext cx="4114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1F3A68"/>
                </a:solidFill>
                <a:latin typeface="微软雅黑" panose="020B0503020204020204" charset="-122"/>
                <a:ea typeface="微软雅黑" panose="020B0503020204020204" charset="-122"/>
              </a:rPr>
              <a:t>7 步调用流程</a:t>
            </a:r>
            <a:endParaRPr sz="1500" b="1">
              <a:solidFill>
                <a:srgbClr val="1F3A6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7589519" y="2514600"/>
            <a:ext cx="4114800" cy="146304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lnSpc>
                <a:spcPct val="105000"/>
              </a:lnSpc>
            </a:pPr>
            <a:r>
              <a:rPr sz="1100" b="0">
                <a:solidFill>
                  <a:srgbClr val="2C3E50"/>
                </a:solidFill>
                <a:latin typeface="微软雅黑" panose="020B0503020204020204" charset="-122"/>
                <a:ea typeface="微软雅黑" panose="020B0503020204020204" charset="-122"/>
              </a:rPr>
              <a:t>① 用户发起自然语言请求</a:t>
            </a:r>
            <a:endParaRPr sz="1100" b="0">
              <a:solidFill>
                <a:srgbClr val="2C3E50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05000"/>
              </a:lnSpc>
            </a:pPr>
            <a:r>
              <a:rPr sz="1100" b="0">
                <a:solidFill>
                  <a:srgbClr val="2C3E50"/>
                </a:solidFill>
                <a:latin typeface="微软雅黑" panose="020B0503020204020204" charset="-122"/>
                <a:ea typeface="微软雅黑" panose="020B0503020204020204" charset="-122"/>
              </a:rPr>
              <a:t>② OrderAgent 判意图、匹配 Tools</a:t>
            </a:r>
            <a:endParaRPr sz="1100" b="0">
              <a:solidFill>
                <a:srgbClr val="2C3E50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05000"/>
              </a:lnSpc>
            </a:pPr>
            <a:r>
              <a:rPr sz="1100" b="0">
                <a:solidFill>
                  <a:srgbClr val="2C3E50"/>
                </a:solidFill>
                <a:latin typeface="微软雅黑" panose="020B0503020204020204" charset="-122"/>
                <a:ea typeface="微软雅黑" panose="020B0503020204020204" charset="-122"/>
              </a:rPr>
              <a:t>③ 触发 Tool Calling，参数校验</a:t>
            </a:r>
            <a:endParaRPr sz="1100" b="0">
              <a:solidFill>
                <a:srgbClr val="2C3E50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05000"/>
              </a:lnSpc>
            </a:pPr>
            <a:r>
              <a:rPr sz="1100" b="0">
                <a:solidFill>
                  <a:srgbClr val="2C3E50"/>
                </a:solidFill>
                <a:latin typeface="微软雅黑" panose="020B0503020204020204" charset="-122"/>
                <a:ea typeface="微软雅黑" panose="020B0503020204020204" charset="-122"/>
              </a:rPr>
              <a:t>④ OrderService 执行 SQL 查询</a:t>
            </a:r>
            <a:endParaRPr sz="1100" b="0">
              <a:solidFill>
                <a:srgbClr val="2C3E50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05000"/>
              </a:lnSpc>
            </a:pPr>
            <a:r>
              <a:rPr sz="1100" b="0">
                <a:solidFill>
                  <a:srgbClr val="2C3E50"/>
                </a:solidFill>
                <a:latin typeface="微软雅黑" panose="020B0503020204020204" charset="-122"/>
                <a:ea typeface="微软雅黑" panose="020B0503020204020204" charset="-122"/>
              </a:rPr>
              <a:t>⑤ SQLite 返回业务数据</a:t>
            </a:r>
            <a:endParaRPr sz="1100" b="0">
              <a:solidFill>
                <a:srgbClr val="2C3E50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05000"/>
              </a:lnSpc>
            </a:pPr>
            <a:r>
              <a:rPr sz="1100" b="0">
                <a:solidFill>
                  <a:srgbClr val="2C3E50"/>
                </a:solidFill>
                <a:latin typeface="微软雅黑" panose="020B0503020204020204" charset="-122"/>
                <a:ea typeface="微软雅黑" panose="020B0503020204020204" charset="-122"/>
              </a:rPr>
              <a:t>⑥ 结果序列化为 ToolMessage 回喂</a:t>
            </a:r>
            <a:endParaRPr sz="1100" b="0">
              <a:solidFill>
                <a:srgbClr val="2C3E50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05000"/>
              </a:lnSpc>
            </a:pPr>
            <a:r>
              <a:rPr sz="1100" b="0">
                <a:solidFill>
                  <a:srgbClr val="2C3E50"/>
                </a:solidFill>
                <a:latin typeface="微软雅黑" panose="020B0503020204020204" charset="-122"/>
                <a:ea typeface="微软雅黑" panose="020B0503020204020204" charset="-122"/>
              </a:rPr>
              <a:t>⑦ LLM 结合上下文生成最终答复</a:t>
            </a:r>
            <a:endParaRPr sz="1100" b="0">
              <a:solidFill>
                <a:srgbClr val="2C3E5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7406640" y="4160520"/>
            <a:ext cx="4343400" cy="2148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406640" y="4160520"/>
            <a:ext cx="64008" cy="2148840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589519" y="4251960"/>
            <a:ext cx="4114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1F3A68"/>
                </a:solidFill>
                <a:latin typeface="微软雅黑" panose="020B0503020204020204" charset="-122"/>
                <a:ea typeface="微软雅黑" panose="020B0503020204020204" charset="-122"/>
              </a:rPr>
              <a:t>工具定义（OpenAI 兼容）</a:t>
            </a:r>
            <a:endParaRPr sz="1500" b="1">
              <a:solidFill>
                <a:srgbClr val="1F3A6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7589519" y="4663440"/>
            <a:ext cx="4114800" cy="1600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>
                <a:solidFill>
                  <a:srgbClr val="2C3E50"/>
                </a:solidFill>
                <a:latin typeface="微软雅黑" panose="020B0503020204020204" charset="-122"/>
                <a:ea typeface="微软雅黑" panose="020B0503020204020204" charset="-122"/>
              </a:rPr>
              <a:t>tools = [{</a:t>
            </a:r>
            <a:endParaRPr sz="1000" b="0">
              <a:solidFill>
                <a:srgbClr val="2C3E50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/>
            <a:r>
              <a:rPr sz="1000" b="0">
                <a:solidFill>
                  <a:srgbClr val="2C3E50"/>
                </a:solidFill>
                <a:latin typeface="微软雅黑" panose="020B0503020204020204" charset="-122"/>
                <a:ea typeface="微软雅黑" panose="020B0503020204020204" charset="-122"/>
              </a:rPr>
              <a:t>  "type": "function",</a:t>
            </a:r>
            <a:endParaRPr sz="1000" b="0">
              <a:solidFill>
                <a:srgbClr val="2C3E50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/>
            <a:r>
              <a:rPr sz="1000" b="0">
                <a:solidFill>
                  <a:srgbClr val="2C3E50"/>
                </a:solidFill>
                <a:latin typeface="微软雅黑" panose="020B0503020204020204" charset="-122"/>
                <a:ea typeface="微软雅黑" panose="020B0503020204020204" charset="-122"/>
              </a:rPr>
              <a:t>  "function": {</a:t>
            </a:r>
            <a:endParaRPr sz="1000" b="0">
              <a:solidFill>
                <a:srgbClr val="2C3E50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/>
            <a:r>
              <a:rPr sz="1000" b="0">
                <a:solidFill>
                  <a:srgbClr val="2C3E50"/>
                </a:solidFill>
                <a:latin typeface="微软雅黑" panose="020B0503020204020204" charset="-122"/>
                <a:ea typeface="微软雅黑" panose="020B0503020204020204" charset="-122"/>
              </a:rPr>
              <a:t>    "name": "get_order_status",</a:t>
            </a:r>
            <a:endParaRPr sz="1000" b="0">
              <a:solidFill>
                <a:srgbClr val="2C3E50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/>
            <a:r>
              <a:rPr sz="1000" b="0">
                <a:solidFill>
                  <a:srgbClr val="2C3E50"/>
                </a:solidFill>
                <a:latin typeface="微软雅黑" panose="020B0503020204020204" charset="-122"/>
                <a:ea typeface="微软雅黑" panose="020B0503020204020204" charset="-122"/>
              </a:rPr>
              <a:t>    "description": "查询订单物流状态",</a:t>
            </a:r>
            <a:endParaRPr sz="1000" b="0">
              <a:solidFill>
                <a:srgbClr val="2C3E50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/>
            <a:r>
              <a:rPr sz="1000" b="0">
                <a:solidFill>
                  <a:srgbClr val="2C3E50"/>
                </a:solidFill>
                <a:latin typeface="微软雅黑" panose="020B0503020204020204" charset="-122"/>
                <a:ea typeface="微软雅黑" panose="020B0503020204020204" charset="-122"/>
              </a:rPr>
              <a:t>    "parameters": { ...order_number... }</a:t>
            </a:r>
            <a:endParaRPr sz="1000" b="0">
              <a:solidFill>
                <a:srgbClr val="2C3E50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/>
            <a:r>
              <a:rPr sz="1000" b="0">
                <a:solidFill>
                  <a:srgbClr val="2C3E50"/>
                </a:solidFill>
                <a:latin typeface="微软雅黑" panose="020B0503020204020204" charset="-122"/>
                <a:ea typeface="微软雅黑" panose="020B0503020204020204" charset="-122"/>
              </a:rPr>
              <a:t>  }</a:t>
            </a:r>
            <a:endParaRPr sz="1000" b="0">
              <a:solidFill>
                <a:srgbClr val="2C3E50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/>
            <a:r>
              <a:rPr sz="1000" b="0">
                <a:solidFill>
                  <a:srgbClr val="2C3E50"/>
                </a:solidFill>
                <a:latin typeface="微软雅黑" panose="020B0503020204020204" charset="-122"/>
                <a:ea typeface="微软雅黑" panose="020B0503020204020204" charset="-122"/>
              </a:rPr>
              <a:t>}]</a:t>
            </a:r>
            <a:endParaRPr sz="1000" b="0">
              <a:solidFill>
                <a:srgbClr val="2C3E5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502920" y="644652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>
                <a:solidFill>
                  <a:srgbClr val="566573"/>
                </a:solidFill>
                <a:latin typeface="微软雅黑" panose="020B0503020204020204" charset="-122"/>
                <a:ea typeface="微软雅黑" panose="020B0503020204020204" charset="-122"/>
              </a:rPr>
              <a:t>Shop Agent · 电商管理客服系统 · 课程汇报</a:t>
            </a:r>
            <a:endParaRPr sz="1100" b="0">
              <a:solidFill>
                <a:srgbClr val="56657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10241280" y="6446520"/>
            <a:ext cx="1463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00" b="1">
                <a:solidFill>
                  <a:srgbClr val="2E86C1"/>
                </a:solidFill>
                <a:latin typeface="微软雅黑" panose="020B0503020204020204" charset="-122"/>
                <a:ea typeface="微软雅黑" panose="020B0503020204020204" charset="-122"/>
              </a:rPr>
              <a:t>07 / 16</a:t>
            </a:r>
            <a:endParaRPr sz="1100" b="1">
              <a:solidFill>
                <a:srgbClr val="2E86C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20040"/>
            <a:ext cx="4114800" cy="329184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20040"/>
            <a:ext cx="64008" cy="329184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329184"/>
            <a:ext cx="3931920" cy="310896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400" b="1">
                <a:solidFill>
                  <a:srgbClr val="2E86C1"/>
                </a:solidFill>
                <a:latin typeface="微软雅黑" panose="020B0503020204020204" charset="-122"/>
                <a:ea typeface="微软雅黑" panose="020B0503020204020204" charset="-122"/>
              </a:rPr>
              <a:t>02  </a:t>
            </a:r>
            <a:r>
              <a:rPr sz="1400" b="1">
                <a:solidFill>
                  <a:srgbClr val="1F3A68"/>
                </a:solidFill>
                <a:latin typeface="微软雅黑" panose="020B0503020204020204" charset="-122"/>
                <a:ea typeface="微软雅黑" panose="020B0503020204020204" charset="-122"/>
              </a:rPr>
              <a:t>/ 核心技术实现</a:t>
            </a:r>
            <a:endParaRPr sz="1400" b="1">
              <a:solidFill>
                <a:srgbClr val="1F3A6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02920" y="777240"/>
            <a:ext cx="1115568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600" b="1">
                <a:solidFill>
                  <a:srgbClr val="1F3A68"/>
                </a:solidFill>
                <a:latin typeface="微软雅黑" panose="020B0503020204020204" charset="-122"/>
                <a:ea typeface="微软雅黑" panose="020B0503020204020204" charset="-122"/>
              </a:rPr>
              <a:t>核心技术（二）RAG 产品推荐</a:t>
            </a:r>
            <a:endParaRPr sz="3600" b="1">
              <a:solidFill>
                <a:srgbClr val="1F3A6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02920" y="1325880"/>
            <a:ext cx="111556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>
                <a:solidFill>
                  <a:srgbClr val="566573"/>
                </a:solidFill>
                <a:latin typeface="微软雅黑" panose="020B0503020204020204" charset="-122"/>
                <a:ea typeface="微软雅黑" panose="020B0503020204020204" charset="-122"/>
              </a:rPr>
              <a:t>检索增强生成 · 两阶段</a:t>
            </a:r>
            <a:endParaRPr sz="1400" b="0">
              <a:solidFill>
                <a:srgbClr val="56657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502920" y="1783080"/>
            <a:ext cx="11155680" cy="27432"/>
          </a:xfrm>
          <a:prstGeom prst="rect">
            <a:avLst/>
          </a:prstGeom>
          <a:solidFill>
            <a:srgbClr val="E5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diagram-rag-flow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53183" y="1965960"/>
            <a:ext cx="2488593" cy="443484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5166360" y="2103120"/>
            <a:ext cx="658368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166360" y="2103120"/>
            <a:ext cx="73152" cy="1371600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394960" y="2267712"/>
            <a:ext cx="62636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>
                <a:solidFill>
                  <a:srgbClr val="1F3A68"/>
                </a:solidFill>
                <a:latin typeface="微软雅黑" panose="020B0503020204020204" charset="-122"/>
                <a:ea typeface="微软雅黑" panose="020B0503020204020204" charset="-122"/>
              </a:rPr>
              <a:t>一、向量检索阶段</a:t>
            </a:r>
            <a:endParaRPr sz="1800" b="1">
              <a:solidFill>
                <a:srgbClr val="1F3A6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394960" y="2788920"/>
            <a:ext cx="626364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>
                <a:solidFill>
                  <a:srgbClr val="2C3E50"/>
                </a:solidFill>
                <a:latin typeface="微软雅黑" panose="020B0503020204020204" charset="-122"/>
                <a:ea typeface="微软雅黑" panose="020B0503020204020204" charset="-122"/>
              </a:rPr>
              <a:t>用户 Query → Embedding 模型 → Query 向量 → ChromaDB 计算相似度 → Top-K=5 候选商品。</a:t>
            </a:r>
            <a:endParaRPr sz="1300" b="0">
              <a:solidFill>
                <a:srgbClr val="2C3E5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5166360" y="3639311"/>
            <a:ext cx="658368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166360" y="3639311"/>
            <a:ext cx="73152" cy="1371600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394960" y="3803903"/>
            <a:ext cx="62636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>
                <a:solidFill>
                  <a:srgbClr val="1F3A68"/>
                </a:solidFill>
                <a:latin typeface="微软雅黑" panose="020B0503020204020204" charset="-122"/>
                <a:ea typeface="微软雅黑" panose="020B0503020204020204" charset="-122"/>
              </a:rPr>
              <a:t>二、增强生成阶段</a:t>
            </a:r>
            <a:endParaRPr sz="1800" b="1">
              <a:solidFill>
                <a:srgbClr val="1F3A6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5394960" y="4325112"/>
            <a:ext cx="626364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>
                <a:solidFill>
                  <a:srgbClr val="2C3E50"/>
                </a:solidFill>
                <a:latin typeface="微软雅黑" panose="020B0503020204020204" charset="-122"/>
                <a:ea typeface="微软雅黑" panose="020B0503020204020204" charset="-122"/>
              </a:rPr>
              <a:t>Top-K 结果注入 Prompt，与原始意图拼接后交由 DeepSeek LLM，生成个性化推荐话术。</a:t>
            </a:r>
            <a:endParaRPr sz="1300" b="0">
              <a:solidFill>
                <a:srgbClr val="2C3E5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5166360" y="5175504"/>
            <a:ext cx="658368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166360" y="5175504"/>
            <a:ext cx="73152" cy="1371600"/>
          </a:xfrm>
          <a:prstGeom prst="rect">
            <a:avLst/>
          </a:prstGeom>
          <a:solidFill>
            <a:srgbClr val="1F3A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394960" y="5340096"/>
            <a:ext cx="62636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>
                <a:solidFill>
                  <a:srgbClr val="1F3A68"/>
                </a:solidFill>
                <a:latin typeface="微软雅黑" panose="020B0503020204020204" charset="-122"/>
                <a:ea typeface="微软雅黑" panose="020B0503020204020204" charset="-122"/>
              </a:rPr>
              <a:t>数据与依赖</a:t>
            </a:r>
            <a:endParaRPr sz="1800" b="1">
              <a:solidFill>
                <a:srgbClr val="1F3A6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5394960" y="5861304"/>
            <a:ext cx="626364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>
                <a:solidFill>
                  <a:srgbClr val="2C3E50"/>
                </a:solidFill>
                <a:latin typeface="微软雅黑" panose="020B0503020204020204" charset="-122"/>
                <a:ea typeface="微软雅黑" panose="020B0503020204020204" charset="-122"/>
              </a:rPr>
              <a:t>data/products.csv 30 款商品离线入库；Embedding 由 SiliconFlow 提供（OpenAI 兼容）。</a:t>
            </a:r>
            <a:endParaRPr sz="1300" b="0">
              <a:solidFill>
                <a:srgbClr val="2C3E5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502920" y="644652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>
                <a:solidFill>
                  <a:srgbClr val="566573"/>
                </a:solidFill>
                <a:latin typeface="微软雅黑" panose="020B0503020204020204" charset="-122"/>
                <a:ea typeface="微软雅黑" panose="020B0503020204020204" charset="-122"/>
              </a:rPr>
              <a:t>Shop Agent · 电商管理客服系统 · 课程汇报</a:t>
            </a:r>
            <a:endParaRPr sz="1100" b="0">
              <a:solidFill>
                <a:srgbClr val="56657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10241280" y="6446520"/>
            <a:ext cx="1463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00" b="1">
                <a:solidFill>
                  <a:srgbClr val="2E86C1"/>
                </a:solidFill>
                <a:latin typeface="微软雅黑" panose="020B0503020204020204" charset="-122"/>
                <a:ea typeface="微软雅黑" panose="020B0503020204020204" charset="-122"/>
              </a:rPr>
              <a:t>08 / 16</a:t>
            </a:r>
            <a:endParaRPr sz="1100" b="1">
              <a:solidFill>
                <a:srgbClr val="2E86C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20040"/>
            <a:ext cx="4114800" cy="329184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20040"/>
            <a:ext cx="64008" cy="329184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329184"/>
            <a:ext cx="3931920" cy="310896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400" b="1">
                <a:solidFill>
                  <a:srgbClr val="2E86C1"/>
                </a:solidFill>
                <a:latin typeface="微软雅黑" panose="020B0503020204020204" charset="-122"/>
                <a:ea typeface="微软雅黑" panose="020B0503020204020204" charset="-122"/>
              </a:rPr>
              <a:t>02  </a:t>
            </a:r>
            <a:r>
              <a:rPr sz="1400" b="1">
                <a:solidFill>
                  <a:srgbClr val="1F3A68"/>
                </a:solidFill>
                <a:latin typeface="微软雅黑" panose="020B0503020204020204" charset="-122"/>
                <a:ea typeface="微软雅黑" panose="020B0503020204020204" charset="-122"/>
              </a:rPr>
              <a:t>/ 核心技术实现</a:t>
            </a:r>
            <a:endParaRPr sz="1400" b="1">
              <a:solidFill>
                <a:srgbClr val="1F3A6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02920" y="777240"/>
            <a:ext cx="1115568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600" b="1">
                <a:solidFill>
                  <a:srgbClr val="1F3A68"/>
                </a:solidFill>
                <a:latin typeface="微软雅黑" panose="020B0503020204020204" charset="-122"/>
                <a:ea typeface="微软雅黑" panose="020B0503020204020204" charset="-122"/>
              </a:rPr>
              <a:t>核心技术（三）Router Agent</a:t>
            </a:r>
            <a:endParaRPr sz="3600" b="1">
              <a:solidFill>
                <a:srgbClr val="1F3A6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02920" y="1325880"/>
            <a:ext cx="111556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>
                <a:solidFill>
                  <a:srgbClr val="566573"/>
                </a:solidFill>
                <a:latin typeface="微软雅黑" panose="020B0503020204020204" charset="-122"/>
                <a:ea typeface="微软雅黑" panose="020B0503020204020204" charset="-122"/>
              </a:rPr>
              <a:t>意图路由</a:t>
            </a:r>
            <a:endParaRPr sz="1400" b="0">
              <a:solidFill>
                <a:srgbClr val="56657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502920" y="1783080"/>
            <a:ext cx="11155680" cy="27432"/>
          </a:xfrm>
          <a:prstGeom prst="rect">
            <a:avLst/>
          </a:prstGeom>
          <a:solidFill>
            <a:srgbClr val="E5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02920" y="2057400"/>
            <a:ext cx="5212080" cy="3931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2057400"/>
            <a:ext cx="64008" cy="3931920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2194560"/>
            <a:ext cx="48463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>
                <a:solidFill>
                  <a:srgbClr val="1F3A68"/>
                </a:solidFill>
                <a:latin typeface="微软雅黑" panose="020B0503020204020204" charset="-122"/>
                <a:ea typeface="微软雅黑" panose="020B0503020204020204" charset="-122"/>
              </a:rPr>
              <a:t>三分类意图识别</a:t>
            </a:r>
            <a:endParaRPr sz="2000" b="1">
              <a:solidFill>
                <a:srgbClr val="1F3A6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822960" y="2697480"/>
            <a:ext cx="2103120" cy="502920"/>
          </a:xfrm>
          <a:prstGeom prst="roundRect">
            <a:avLst/>
          </a:prstGeom>
          <a:solidFill>
            <a:srgbClr val="1F3A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2788920"/>
            <a:ext cx="21031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order_query</a:t>
            </a:r>
            <a:endParaRPr sz="13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3017520" y="2697480"/>
            <a:ext cx="2560320" cy="5029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5E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017520" y="2788920"/>
            <a:ext cx="25603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0">
                <a:solidFill>
                  <a:srgbClr val="2C3E50"/>
                </a:solidFill>
                <a:latin typeface="微软雅黑" panose="020B0503020204020204" charset="-122"/>
                <a:ea typeface="微软雅黑" panose="020B0503020204020204" charset="-122"/>
              </a:rPr>
              <a:t>订单 / 物流 / 快递相关</a:t>
            </a:r>
            <a:endParaRPr sz="1200" b="0">
              <a:solidFill>
                <a:srgbClr val="2C3E5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822960" y="3474720"/>
            <a:ext cx="2103120" cy="502920"/>
          </a:xfrm>
          <a:prstGeom prst="roundRect">
            <a:avLst/>
          </a:prstGeom>
          <a:solidFill>
            <a:srgbClr val="1F3A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3566160"/>
            <a:ext cx="21031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product_rec</a:t>
            </a:r>
            <a:endParaRPr sz="13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3017520" y="3474720"/>
            <a:ext cx="2560320" cy="5029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5E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017520" y="3566160"/>
            <a:ext cx="25603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0">
                <a:solidFill>
                  <a:srgbClr val="2C3E50"/>
                </a:solidFill>
                <a:latin typeface="微软雅黑" panose="020B0503020204020204" charset="-122"/>
                <a:ea typeface="微软雅黑" panose="020B0503020204020204" charset="-122"/>
              </a:rPr>
              <a:t>商品推荐 / 选购咨询</a:t>
            </a:r>
            <a:endParaRPr sz="1200" b="0">
              <a:solidFill>
                <a:srgbClr val="2C3E5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822960" y="4251960"/>
            <a:ext cx="2103120" cy="502920"/>
          </a:xfrm>
          <a:prstGeom prst="roundRect">
            <a:avLst/>
          </a:prstGeom>
          <a:solidFill>
            <a:srgbClr val="1F3A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60" y="4343400"/>
            <a:ext cx="21031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general</a:t>
            </a:r>
            <a:endParaRPr sz="13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" name="Rounded Rectangle 20"/>
          <p:cNvSpPr/>
          <p:nvPr/>
        </p:nvSpPr>
        <p:spPr>
          <a:xfrm>
            <a:off x="3017520" y="4251960"/>
            <a:ext cx="2560320" cy="5029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5E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017520" y="4343400"/>
            <a:ext cx="25603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0">
                <a:solidFill>
                  <a:srgbClr val="2C3E50"/>
                </a:solidFill>
                <a:latin typeface="微软雅黑" panose="020B0503020204020204" charset="-122"/>
                <a:ea typeface="微软雅黑" panose="020B0503020204020204" charset="-122"/>
              </a:rPr>
              <a:t>寒暄 / 政策 / 其它</a:t>
            </a:r>
            <a:endParaRPr sz="1200" b="0">
              <a:solidFill>
                <a:srgbClr val="2C3E5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731520" y="5257800"/>
            <a:ext cx="484632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>
                <a:solidFill>
                  <a:srgbClr val="566573"/>
                </a:solidFill>
                <a:latin typeface="微软雅黑" panose="020B0503020204020204" charset="-122"/>
                <a:ea typeface="微软雅黑" panose="020B0503020204020204" charset="-122"/>
              </a:rPr>
              <a:t>由 router_agent.py 统一调度，决定走 Order / RAG / 通用对话。</a:t>
            </a:r>
            <a:endParaRPr sz="1300" b="0">
              <a:solidFill>
                <a:srgbClr val="56657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4" name="Rounded Rectangle 23"/>
          <p:cNvSpPr/>
          <p:nvPr/>
        </p:nvSpPr>
        <p:spPr>
          <a:xfrm>
            <a:off x="5897880" y="2057400"/>
            <a:ext cx="5806440" cy="1920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897880" y="2057400"/>
            <a:ext cx="64008" cy="1920240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126480" y="2194560"/>
            <a:ext cx="5486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>
                <a:solidFill>
                  <a:srgbClr val="1F3A68"/>
                </a:solidFill>
                <a:latin typeface="微软雅黑" panose="020B0503020204020204" charset="-122"/>
                <a:ea typeface="微软雅黑" panose="020B0503020204020204" charset="-122"/>
              </a:rPr>
              <a:t>调用时序</a:t>
            </a:r>
            <a:endParaRPr sz="1800" b="1">
              <a:solidFill>
                <a:srgbClr val="1F3A6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6126480" y="2606040"/>
            <a:ext cx="5486400" cy="1371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2E86C1"/>
                </a:solidFill>
                <a:latin typeface="微软雅黑" panose="020B0503020204020204" charset="-122"/>
                <a:ea typeface="微软雅黑" panose="020B0503020204020204" charset="-122"/>
              </a:rPr>
              <a:t>● </a:t>
            </a:r>
            <a:r>
              <a:rPr sz="1300" b="0">
                <a:solidFill>
                  <a:srgbClr val="2C3E50"/>
                </a:solidFill>
                <a:latin typeface="微软雅黑" panose="020B0503020204020204" charset="-122"/>
                <a:ea typeface="微软雅黑" panose="020B0503020204020204" charset="-122"/>
              </a:rPr>
              <a:t>用户消息 + 历史 → Router Agent</a:t>
            </a:r>
            <a:endParaRPr sz="1300" b="0">
              <a:solidFill>
                <a:srgbClr val="2C3E50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15000"/>
              </a:lnSpc>
            </a:pPr>
            <a:r>
              <a:rPr sz="1300" b="1">
                <a:solidFill>
                  <a:srgbClr val="2E86C1"/>
                </a:solidFill>
                <a:latin typeface="微软雅黑" panose="020B0503020204020204" charset="-122"/>
                <a:ea typeface="微软雅黑" panose="020B0503020204020204" charset="-122"/>
              </a:rPr>
              <a:t>● </a:t>
            </a:r>
            <a:r>
              <a:rPr sz="1300" b="0">
                <a:solidFill>
                  <a:srgbClr val="2C3E50"/>
                </a:solidFill>
                <a:latin typeface="微软雅黑" panose="020B0503020204020204" charset="-122"/>
                <a:ea typeface="微软雅黑" panose="020B0503020204020204" charset="-122"/>
              </a:rPr>
              <a:t>LLM 输出意图标签</a:t>
            </a:r>
            <a:endParaRPr sz="1300" b="0">
              <a:solidFill>
                <a:srgbClr val="2C3E50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15000"/>
              </a:lnSpc>
            </a:pPr>
            <a:r>
              <a:rPr sz="1300" b="1">
                <a:solidFill>
                  <a:srgbClr val="2E86C1"/>
                </a:solidFill>
                <a:latin typeface="微软雅黑" panose="020B0503020204020204" charset="-122"/>
                <a:ea typeface="微软雅黑" panose="020B0503020204020204" charset="-122"/>
              </a:rPr>
              <a:t>● </a:t>
            </a:r>
            <a:r>
              <a:rPr sz="1300" b="0">
                <a:solidFill>
                  <a:srgbClr val="2C3E50"/>
                </a:solidFill>
                <a:latin typeface="微软雅黑" panose="020B0503020204020204" charset="-122"/>
                <a:ea typeface="微软雅黑" panose="020B0503020204020204" charset="-122"/>
              </a:rPr>
              <a:t>分发到对应子 Agent 执行</a:t>
            </a:r>
            <a:endParaRPr sz="1300" b="0">
              <a:solidFill>
                <a:srgbClr val="2C3E50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15000"/>
              </a:lnSpc>
            </a:pPr>
            <a:r>
              <a:rPr sz="1300" b="1">
                <a:solidFill>
                  <a:srgbClr val="2E86C1"/>
                </a:solidFill>
                <a:latin typeface="微软雅黑" panose="020B0503020204020204" charset="-122"/>
                <a:ea typeface="微软雅黑" panose="020B0503020204020204" charset="-122"/>
              </a:rPr>
              <a:t>● </a:t>
            </a:r>
            <a:r>
              <a:rPr sz="1300" b="0">
                <a:solidFill>
                  <a:srgbClr val="2C3E50"/>
                </a:solidFill>
                <a:latin typeface="微软雅黑" panose="020B0503020204020204" charset="-122"/>
                <a:ea typeface="微软雅黑" panose="020B0503020204020204" charset="-122"/>
              </a:rPr>
              <a:t>统一回包（含 intent 字段）</a:t>
            </a:r>
            <a:endParaRPr sz="1300" b="0">
              <a:solidFill>
                <a:srgbClr val="2C3E5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8" name="Rounded Rectangle 27"/>
          <p:cNvSpPr/>
          <p:nvPr/>
        </p:nvSpPr>
        <p:spPr>
          <a:xfrm>
            <a:off x="5928360" y="4114800"/>
            <a:ext cx="5806440" cy="1874519"/>
          </a:xfrm>
          <a:prstGeom prst="roundRect">
            <a:avLst>
              <a:gd name="adj" fmla="val 15311"/>
            </a:avLst>
          </a:prstGeom>
          <a:solidFill>
            <a:srgbClr val="FFFFFF"/>
          </a:solidFill>
          <a:ln w="12700">
            <a:solidFill>
              <a:srgbClr val="E67E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897880" y="4114800"/>
            <a:ext cx="64008" cy="1874519"/>
          </a:xfrm>
          <a:prstGeom prst="rect">
            <a:avLst/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126480" y="4206240"/>
            <a:ext cx="5486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>
                <a:solidFill>
                  <a:srgbClr val="1F3A68"/>
                </a:solidFill>
                <a:latin typeface="微软雅黑" panose="020B0503020204020204" charset="-122"/>
                <a:ea typeface="微软雅黑" panose="020B0503020204020204" charset="-122"/>
              </a:rPr>
              <a:t>已识别优化点</a:t>
            </a:r>
            <a:endParaRPr sz="1800" b="1">
              <a:solidFill>
                <a:srgbClr val="1F3A6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6126480" y="4617720"/>
            <a:ext cx="548640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>
                <a:solidFill>
                  <a:srgbClr val="2C3E50"/>
                </a:solidFill>
                <a:latin typeface="微软雅黑" panose="020B0503020204020204" charset="-122"/>
                <a:ea typeface="微软雅黑" panose="020B0503020204020204" charset="-122"/>
              </a:rPr>
              <a:t>额外的意图分类 LLM 调用会增加延迟与成本，已在 to-fix.md 标记，后续可用规则预过滤 + 单次 tool_choice 合并。</a:t>
            </a:r>
            <a:endParaRPr sz="1300" b="0">
              <a:solidFill>
                <a:srgbClr val="2C3E5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502920" y="644652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>
                <a:solidFill>
                  <a:srgbClr val="566573"/>
                </a:solidFill>
                <a:latin typeface="微软雅黑" panose="020B0503020204020204" charset="-122"/>
                <a:ea typeface="微软雅黑" panose="020B0503020204020204" charset="-122"/>
              </a:rPr>
              <a:t>Shop Agent · 电商管理客服系统 · 课程汇报</a:t>
            </a:r>
            <a:endParaRPr sz="1100" b="0">
              <a:solidFill>
                <a:srgbClr val="56657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10241280" y="6446520"/>
            <a:ext cx="1463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00" b="1">
                <a:solidFill>
                  <a:srgbClr val="2E86C1"/>
                </a:solidFill>
                <a:latin typeface="微软雅黑" panose="020B0503020204020204" charset="-122"/>
                <a:ea typeface="微软雅黑" panose="020B0503020204020204" charset="-122"/>
              </a:rPr>
              <a:t>09 / 16</a:t>
            </a:r>
            <a:endParaRPr sz="1100" b="1">
              <a:solidFill>
                <a:srgbClr val="2E86C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20040"/>
            <a:ext cx="4114800" cy="329184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20040"/>
            <a:ext cx="64008" cy="329184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329184"/>
            <a:ext cx="3931920" cy="310896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400" b="1">
                <a:solidFill>
                  <a:srgbClr val="2E86C1"/>
                </a:solidFill>
                <a:latin typeface="微软雅黑" panose="020B0503020204020204" charset="-122"/>
                <a:ea typeface="微软雅黑" panose="020B0503020204020204" charset="-122"/>
              </a:rPr>
              <a:t>02  </a:t>
            </a:r>
            <a:r>
              <a:rPr sz="1400" b="1">
                <a:solidFill>
                  <a:srgbClr val="1F3A68"/>
                </a:solidFill>
                <a:latin typeface="微软雅黑" panose="020B0503020204020204" charset="-122"/>
                <a:ea typeface="微软雅黑" panose="020B0503020204020204" charset="-122"/>
              </a:rPr>
              <a:t>/ 核心技术实现</a:t>
            </a:r>
            <a:endParaRPr sz="1400" b="1">
              <a:solidFill>
                <a:srgbClr val="1F3A6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02920" y="777240"/>
            <a:ext cx="1115568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600" b="1">
                <a:solidFill>
                  <a:srgbClr val="1F3A68"/>
                </a:solidFill>
                <a:latin typeface="微软雅黑" panose="020B0503020204020204" charset="-122"/>
                <a:ea typeface="微软雅黑" panose="020B0503020204020204" charset="-122"/>
              </a:rPr>
              <a:t>核心技术（四）Agent Memory 三阶段</a:t>
            </a:r>
            <a:endParaRPr sz="3600" b="1">
              <a:solidFill>
                <a:srgbClr val="1F3A6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02920" y="1325880"/>
            <a:ext cx="111556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>
                <a:solidFill>
                  <a:srgbClr val="566573"/>
                </a:solidFill>
                <a:latin typeface="微软雅黑" panose="020B0503020204020204" charset="-122"/>
                <a:ea typeface="微软雅黑" panose="020B0503020204020204" charset="-122"/>
              </a:rPr>
              <a:t>上下文压缩</a:t>
            </a:r>
            <a:endParaRPr sz="1400" b="0">
              <a:solidFill>
                <a:srgbClr val="56657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502920" y="1783080"/>
            <a:ext cx="11155680" cy="27432"/>
          </a:xfrm>
          <a:prstGeom prst="rect">
            <a:avLst/>
          </a:prstGeom>
          <a:solidFill>
            <a:srgbClr val="E5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02920" y="2103120"/>
            <a:ext cx="3611879" cy="2926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02920" y="2103120"/>
            <a:ext cx="3611879" cy="502920"/>
          </a:xfrm>
          <a:prstGeom prst="roundRect">
            <a:avLst/>
          </a:prstGeom>
          <a:solidFill>
            <a:srgbClr val="1F3A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" y="2377439"/>
            <a:ext cx="3611879" cy="228600"/>
          </a:xfrm>
          <a:prstGeom prst="rect">
            <a:avLst/>
          </a:prstGeom>
          <a:solidFill>
            <a:srgbClr val="1F3A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2176272"/>
            <a:ext cx="3611879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阶段 1 · Buffer 策略</a:t>
            </a:r>
            <a:endParaRPr sz="15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02920" y="2743200"/>
            <a:ext cx="3611879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800" b="1">
                <a:solidFill>
                  <a:srgbClr val="1F3A68"/>
                </a:solidFill>
                <a:latin typeface="微软雅黑" panose="020B0503020204020204" charset="-122"/>
                <a:ea typeface="微软雅黑" panose="020B0503020204020204" charset="-122"/>
              </a:rPr>
              <a:t>规则截断</a:t>
            </a:r>
            <a:endParaRPr sz="1800" b="1">
              <a:solidFill>
                <a:srgbClr val="1F3A6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685800" y="3291839"/>
            <a:ext cx="3337560" cy="1371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2E86C1"/>
                </a:solidFill>
                <a:latin typeface="微软雅黑" panose="020B0503020204020204" charset="-122"/>
                <a:ea typeface="微软雅黑" panose="020B0503020204020204" charset="-122"/>
              </a:rPr>
              <a:t>● </a:t>
            </a:r>
            <a:r>
              <a:rPr sz="1200" b="0">
                <a:solidFill>
                  <a:srgbClr val="2C3E50"/>
                </a:solidFill>
                <a:latin typeface="微软雅黑" panose="020B0503020204020204" charset="-122"/>
                <a:ea typeface="微软雅黑" panose="020B0503020204020204" charset="-122"/>
              </a:rPr>
              <a:t>最近 3 轮完整保留</a:t>
            </a:r>
            <a:endParaRPr sz="1200" b="0">
              <a:solidFill>
                <a:srgbClr val="2C3E50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15000"/>
              </a:lnSpc>
            </a:pPr>
            <a:r>
              <a:rPr sz="1200" b="1">
                <a:solidFill>
                  <a:srgbClr val="2E86C1"/>
                </a:solidFill>
                <a:latin typeface="微软雅黑" panose="020B0503020204020204" charset="-122"/>
                <a:ea typeface="微软雅黑" panose="020B0503020204020204" charset="-122"/>
              </a:rPr>
              <a:t>● </a:t>
            </a:r>
            <a:r>
              <a:rPr sz="1200" b="0">
                <a:solidFill>
                  <a:srgbClr val="2C3E50"/>
                </a:solidFill>
                <a:latin typeface="微软雅黑" panose="020B0503020204020204" charset="-122"/>
                <a:ea typeface="微软雅黑" panose="020B0503020204020204" charset="-122"/>
              </a:rPr>
              <a:t>第 4-8 轮仅保留摘要</a:t>
            </a:r>
            <a:endParaRPr sz="1200" b="0">
              <a:solidFill>
                <a:srgbClr val="2C3E50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15000"/>
              </a:lnSpc>
            </a:pPr>
            <a:r>
              <a:rPr sz="1200" b="1">
                <a:solidFill>
                  <a:srgbClr val="2E86C1"/>
                </a:solidFill>
                <a:latin typeface="微软雅黑" panose="020B0503020204020204" charset="-122"/>
                <a:ea typeface="微软雅黑" panose="020B0503020204020204" charset="-122"/>
              </a:rPr>
              <a:t>● </a:t>
            </a:r>
            <a:r>
              <a:rPr sz="1200" b="0">
                <a:solidFill>
                  <a:srgbClr val="2C3E50"/>
                </a:solidFill>
                <a:latin typeface="微软雅黑" panose="020B0503020204020204" charset="-122"/>
                <a:ea typeface="微软雅黑" panose="020B0503020204020204" charset="-122"/>
              </a:rPr>
              <a:t>第 9 轮及更早删除</a:t>
            </a:r>
            <a:endParaRPr sz="1200" b="0">
              <a:solidFill>
                <a:srgbClr val="2C3E50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15000"/>
              </a:lnSpc>
            </a:pPr>
            <a:r>
              <a:rPr sz="1200" b="1">
                <a:solidFill>
                  <a:srgbClr val="2E86C1"/>
                </a:solidFill>
                <a:latin typeface="微软雅黑" panose="020B0503020204020204" charset="-122"/>
                <a:ea typeface="微软雅黑" panose="020B0503020204020204" charset="-122"/>
              </a:rPr>
              <a:t>● </a:t>
            </a:r>
            <a:r>
              <a:rPr sz="1200" b="0">
                <a:solidFill>
                  <a:srgbClr val="2C3E50"/>
                </a:solidFill>
                <a:latin typeface="微软雅黑" panose="020B0503020204020204" charset="-122"/>
                <a:ea typeface="微软雅黑" panose="020B0503020204020204" charset="-122"/>
              </a:rPr>
              <a:t>Tool / RAG 结果标记为关键</a:t>
            </a:r>
            <a:endParaRPr sz="1200" b="0">
              <a:solidFill>
                <a:srgbClr val="2C3E5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685800" y="4709160"/>
            <a:ext cx="33375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>
                <a:solidFill>
                  <a:srgbClr val="566573"/>
                </a:solidFill>
                <a:latin typeface="微软雅黑" panose="020B0503020204020204" charset="-122"/>
                <a:ea typeface="微软雅黑" panose="020B0503020204020204" charset="-122"/>
              </a:rPr>
              <a:t>对应：agent_memory.py</a:t>
            </a:r>
            <a:endParaRPr sz="1100" b="0">
              <a:solidFill>
                <a:srgbClr val="56657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4297679" y="2103120"/>
            <a:ext cx="3611879" cy="2926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4297679" y="2103120"/>
            <a:ext cx="3611879" cy="502920"/>
          </a:xfrm>
          <a:prstGeom prst="round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297679" y="2377439"/>
            <a:ext cx="3611879" cy="228600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297679" y="2176272"/>
            <a:ext cx="3611879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阶段 2 · 场景感知</a:t>
            </a:r>
            <a:endParaRPr sz="15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4297679" y="2743200"/>
            <a:ext cx="3611879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800" b="1">
                <a:solidFill>
                  <a:srgbClr val="1F3A68"/>
                </a:solidFill>
                <a:latin typeface="微软雅黑" panose="020B0503020204020204" charset="-122"/>
                <a:ea typeface="微软雅黑" panose="020B0503020204020204" charset="-122"/>
              </a:rPr>
              <a:t>结构化提取</a:t>
            </a:r>
            <a:endParaRPr sz="1800" b="1">
              <a:solidFill>
                <a:srgbClr val="1F3A6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4480559" y="3291839"/>
            <a:ext cx="3337560" cy="1371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2E86C1"/>
                </a:solidFill>
                <a:latin typeface="微软雅黑" panose="020B0503020204020204" charset="-122"/>
                <a:ea typeface="微软雅黑" panose="020B0503020204020204" charset="-122"/>
              </a:rPr>
              <a:t>● </a:t>
            </a:r>
            <a:r>
              <a:rPr sz="1200" b="0">
                <a:solidFill>
                  <a:srgbClr val="2C3E50"/>
                </a:solidFill>
                <a:latin typeface="微软雅黑" panose="020B0503020204020204" charset="-122"/>
                <a:ea typeface="微软雅黑" panose="020B0503020204020204" charset="-122"/>
              </a:rPr>
              <a:t>自动识别对话模式</a:t>
            </a:r>
            <a:endParaRPr sz="1200" b="0">
              <a:solidFill>
                <a:srgbClr val="2C3E50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15000"/>
              </a:lnSpc>
            </a:pPr>
            <a:r>
              <a:rPr sz="1200" b="1">
                <a:solidFill>
                  <a:srgbClr val="2E86C1"/>
                </a:solidFill>
                <a:latin typeface="微软雅黑" panose="020B0503020204020204" charset="-122"/>
                <a:ea typeface="微软雅黑" panose="020B0503020204020204" charset="-122"/>
              </a:rPr>
              <a:t>● </a:t>
            </a:r>
            <a:r>
              <a:rPr sz="1200" b="0">
                <a:solidFill>
                  <a:srgbClr val="2C3E50"/>
                </a:solidFill>
                <a:latin typeface="微软雅黑" panose="020B0503020204020204" charset="-122"/>
                <a:ea typeface="微软雅黑" panose="020B0503020204020204" charset="-122"/>
              </a:rPr>
              <a:t>抽取订单号 / 状态 / 物流</a:t>
            </a:r>
            <a:endParaRPr sz="1200" b="0">
              <a:solidFill>
                <a:srgbClr val="2C3E50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15000"/>
              </a:lnSpc>
            </a:pPr>
            <a:r>
              <a:rPr sz="1200" b="1">
                <a:solidFill>
                  <a:srgbClr val="2E86C1"/>
                </a:solidFill>
                <a:latin typeface="微软雅黑" panose="020B0503020204020204" charset="-122"/>
                <a:ea typeface="微软雅黑" panose="020B0503020204020204" charset="-122"/>
              </a:rPr>
              <a:t>● </a:t>
            </a:r>
            <a:r>
              <a:rPr sz="1200" b="0">
                <a:solidFill>
                  <a:srgbClr val="2C3E50"/>
                </a:solidFill>
                <a:latin typeface="微软雅黑" panose="020B0503020204020204" charset="-122"/>
                <a:ea typeface="微软雅黑" panose="020B0503020204020204" charset="-122"/>
              </a:rPr>
              <a:t>抽取商品 / 类目 / 预算</a:t>
            </a:r>
            <a:endParaRPr sz="1200" b="0">
              <a:solidFill>
                <a:srgbClr val="2C3E50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15000"/>
              </a:lnSpc>
            </a:pPr>
            <a:r>
              <a:rPr sz="1200" b="1">
                <a:solidFill>
                  <a:srgbClr val="2E86C1"/>
                </a:solidFill>
                <a:latin typeface="微软雅黑" panose="020B0503020204020204" charset="-122"/>
                <a:ea typeface="微软雅黑" panose="020B0503020204020204" charset="-122"/>
              </a:rPr>
              <a:t>● </a:t>
            </a:r>
            <a:r>
              <a:rPr sz="1200" b="0">
                <a:solidFill>
                  <a:srgbClr val="2C3E50"/>
                </a:solidFill>
                <a:latin typeface="微软雅黑" panose="020B0503020204020204" charset="-122"/>
                <a:ea typeface="微软雅黑" panose="020B0503020204020204" charset="-122"/>
              </a:rPr>
              <a:t>Pattern detection ≥ 95%</a:t>
            </a:r>
            <a:endParaRPr sz="1200" b="0">
              <a:solidFill>
                <a:srgbClr val="2C3E5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4480559" y="4709160"/>
            <a:ext cx="33375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>
                <a:solidFill>
                  <a:srgbClr val="566573"/>
                </a:solidFill>
                <a:latin typeface="微软雅黑" panose="020B0503020204020204" charset="-122"/>
                <a:ea typeface="微软雅黑" panose="020B0503020204020204" charset="-122"/>
              </a:rPr>
              <a:t>结构化保存关键字段</a:t>
            </a:r>
            <a:endParaRPr sz="1100" b="0">
              <a:solidFill>
                <a:srgbClr val="56657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8092440" y="2103120"/>
            <a:ext cx="3611879" cy="2926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8092440" y="2103120"/>
            <a:ext cx="3611879" cy="502920"/>
          </a:xfrm>
          <a:prstGeom prst="roundRect">
            <a:avLst/>
          </a:prstGeom>
          <a:solidFill>
            <a:srgbClr val="1F3A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092440" y="2377439"/>
            <a:ext cx="3611879" cy="228600"/>
          </a:xfrm>
          <a:prstGeom prst="rect">
            <a:avLst/>
          </a:prstGeom>
          <a:solidFill>
            <a:srgbClr val="1F3A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092440" y="2176272"/>
            <a:ext cx="3611879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阶段 3 · LLM 压缩</a:t>
            </a:r>
            <a:endParaRPr sz="15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8092440" y="2743200"/>
            <a:ext cx="3611879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800" b="1">
                <a:solidFill>
                  <a:srgbClr val="1F3A68"/>
                </a:solidFill>
                <a:latin typeface="微软雅黑" panose="020B0503020204020204" charset="-122"/>
                <a:ea typeface="微软雅黑" panose="020B0503020204020204" charset="-122"/>
              </a:rPr>
              <a:t>智能摘要</a:t>
            </a:r>
            <a:endParaRPr sz="1800" b="1">
              <a:solidFill>
                <a:srgbClr val="1F3A6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8275319" y="3291839"/>
            <a:ext cx="3337560" cy="1371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2E86C1"/>
                </a:solidFill>
                <a:latin typeface="微软雅黑" panose="020B0503020204020204" charset="-122"/>
                <a:ea typeface="微软雅黑" panose="020B0503020204020204" charset="-122"/>
              </a:rPr>
              <a:t>● </a:t>
            </a:r>
            <a:r>
              <a:rPr sz="1200" b="0">
                <a:solidFill>
                  <a:srgbClr val="2C3E50"/>
                </a:solidFill>
                <a:latin typeface="微软雅黑" panose="020B0503020204020204" charset="-122"/>
                <a:ea typeface="微软雅黑" panose="020B0503020204020204" charset="-122"/>
              </a:rPr>
              <a:t>超阈值触发 LLM 压缩</a:t>
            </a:r>
            <a:endParaRPr sz="1200" b="0">
              <a:solidFill>
                <a:srgbClr val="2C3E50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15000"/>
              </a:lnSpc>
            </a:pPr>
            <a:r>
              <a:rPr sz="1200" b="1">
                <a:solidFill>
                  <a:srgbClr val="2E86C1"/>
                </a:solidFill>
                <a:latin typeface="微软雅黑" panose="020B0503020204020204" charset="-122"/>
                <a:ea typeface="微软雅黑" panose="020B0503020204020204" charset="-122"/>
              </a:rPr>
              <a:t>● </a:t>
            </a:r>
            <a:r>
              <a:rPr sz="1200" b="0">
                <a:solidFill>
                  <a:srgbClr val="2C3E50"/>
                </a:solidFill>
                <a:latin typeface="微软雅黑" panose="020B0503020204020204" charset="-122"/>
                <a:ea typeface="微软雅黑" panose="020B0503020204020204" charset="-122"/>
              </a:rPr>
              <a:t>早期多轮 → 50 字摘要</a:t>
            </a:r>
            <a:endParaRPr sz="1200" b="0">
              <a:solidFill>
                <a:srgbClr val="2C3E50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15000"/>
              </a:lnSpc>
            </a:pPr>
            <a:r>
              <a:rPr sz="1200" b="1">
                <a:solidFill>
                  <a:srgbClr val="2E86C1"/>
                </a:solidFill>
                <a:latin typeface="微软雅黑" panose="020B0503020204020204" charset="-122"/>
                <a:ea typeface="微软雅黑" panose="020B0503020204020204" charset="-122"/>
              </a:rPr>
              <a:t>● </a:t>
            </a:r>
            <a:r>
              <a:rPr sz="1200" b="0">
                <a:solidFill>
                  <a:srgbClr val="2C3E50"/>
                </a:solidFill>
                <a:latin typeface="微软雅黑" panose="020B0503020204020204" charset="-122"/>
                <a:ea typeface="微软雅黑" panose="020B0503020204020204" charset="-122"/>
              </a:rPr>
              <a:t>摘要 + 最近 N 轮拼装</a:t>
            </a:r>
            <a:endParaRPr sz="1200" b="0">
              <a:solidFill>
                <a:srgbClr val="2C3E50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15000"/>
              </a:lnSpc>
            </a:pPr>
            <a:r>
              <a:rPr sz="1200" b="1">
                <a:solidFill>
                  <a:srgbClr val="2E86C1"/>
                </a:solidFill>
                <a:latin typeface="微软雅黑" panose="020B0503020204020204" charset="-122"/>
                <a:ea typeface="微软雅黑" panose="020B0503020204020204" charset="-122"/>
              </a:rPr>
              <a:t>● </a:t>
            </a:r>
            <a:r>
              <a:rPr sz="1200" b="0">
                <a:solidFill>
                  <a:srgbClr val="2C3E50"/>
                </a:solidFill>
                <a:latin typeface="微软雅黑" panose="020B0503020204020204" charset="-122"/>
                <a:ea typeface="微软雅黑" panose="020B0503020204020204" charset="-122"/>
              </a:rPr>
              <a:t>压缩耗时 P99 &lt; 1s</a:t>
            </a:r>
            <a:endParaRPr sz="1200" b="0">
              <a:solidFill>
                <a:srgbClr val="2C3E5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8275319" y="4709160"/>
            <a:ext cx="33375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>
                <a:solidFill>
                  <a:srgbClr val="566573"/>
                </a:solidFill>
                <a:latin typeface="微软雅黑" panose="020B0503020204020204" charset="-122"/>
                <a:ea typeface="微软雅黑" panose="020B0503020204020204" charset="-122"/>
              </a:rPr>
              <a:t>对应：summary_service.py</a:t>
            </a:r>
            <a:endParaRPr sz="1100" b="0">
              <a:solidFill>
                <a:srgbClr val="56657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502920" y="5166360"/>
            <a:ext cx="11201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566573"/>
                </a:solidFill>
                <a:latin typeface="微软雅黑" panose="020B0503020204020204" charset="-122"/>
                <a:ea typeface="微软雅黑" panose="020B0503020204020204" charset="-122"/>
              </a:rPr>
              <a:t>预期收益（来源：AGENT_MEMORY_PLAN.md，设计目标非实测）</a:t>
            </a:r>
            <a:endParaRPr sz="1200" b="0">
              <a:solidFill>
                <a:srgbClr val="56657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0" name="Rounded Rectangle 29"/>
          <p:cNvSpPr/>
          <p:nvPr/>
        </p:nvSpPr>
        <p:spPr>
          <a:xfrm>
            <a:off x="502920" y="5486400"/>
            <a:ext cx="2697480" cy="658368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5E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02920" y="5532120"/>
            <a:ext cx="26974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0">
                <a:solidFill>
                  <a:srgbClr val="566573"/>
                </a:solidFill>
                <a:latin typeface="微软雅黑" panose="020B0503020204020204" charset="-122"/>
                <a:ea typeface="微软雅黑" panose="020B0503020204020204" charset="-122"/>
              </a:rPr>
              <a:t>10 轮 Token</a:t>
            </a:r>
            <a:endParaRPr sz="1100" b="0">
              <a:solidFill>
                <a:srgbClr val="56657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502920" y="5760720"/>
            <a:ext cx="269748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0">
                <a:solidFill>
                  <a:srgbClr val="2C3E50"/>
                </a:solidFill>
                <a:latin typeface="微软雅黑" panose="020B0503020204020204" charset="-122"/>
                <a:ea typeface="微软雅黑" panose="020B0503020204020204" charset="-122"/>
              </a:rPr>
              <a:t>2000 → 600</a:t>
            </a:r>
            <a:endParaRPr sz="1200" b="0">
              <a:solidFill>
                <a:srgbClr val="2C3E5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502920" y="5943600"/>
            <a:ext cx="269748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00" b="1">
                <a:solidFill>
                  <a:srgbClr val="27AE60"/>
                </a:solidFill>
                <a:latin typeface="微软雅黑" panose="020B0503020204020204" charset="-122"/>
                <a:ea typeface="微软雅黑" panose="020B0503020204020204" charset="-122"/>
              </a:rPr>
              <a:t>↓ 70%</a:t>
            </a:r>
            <a:endParaRPr sz="1300" b="1">
              <a:solidFill>
                <a:srgbClr val="27AE6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4" name="Rounded Rectangle 33"/>
          <p:cNvSpPr/>
          <p:nvPr/>
        </p:nvSpPr>
        <p:spPr>
          <a:xfrm>
            <a:off x="3337560" y="5486400"/>
            <a:ext cx="2697480" cy="658368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5E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337560" y="5532120"/>
            <a:ext cx="26974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0">
                <a:solidFill>
                  <a:srgbClr val="566573"/>
                </a:solidFill>
                <a:latin typeface="微软雅黑" panose="020B0503020204020204" charset="-122"/>
                <a:ea typeface="微软雅黑" panose="020B0503020204020204" charset="-122"/>
              </a:rPr>
              <a:t>30 轮 Token</a:t>
            </a:r>
            <a:endParaRPr sz="1100" b="0">
              <a:solidFill>
                <a:srgbClr val="56657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3337560" y="5760720"/>
            <a:ext cx="269748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0">
                <a:solidFill>
                  <a:srgbClr val="2C3E50"/>
                </a:solidFill>
                <a:latin typeface="微软雅黑" panose="020B0503020204020204" charset="-122"/>
                <a:ea typeface="微软雅黑" panose="020B0503020204020204" charset="-122"/>
              </a:rPr>
              <a:t>6000 → 1200</a:t>
            </a:r>
            <a:endParaRPr sz="1200" b="0">
              <a:solidFill>
                <a:srgbClr val="2C3E5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3337560" y="5943600"/>
            <a:ext cx="269748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00" b="1">
                <a:solidFill>
                  <a:srgbClr val="27AE60"/>
                </a:solidFill>
                <a:latin typeface="微软雅黑" panose="020B0503020204020204" charset="-122"/>
                <a:ea typeface="微软雅黑" panose="020B0503020204020204" charset="-122"/>
              </a:rPr>
              <a:t>↓ 80%</a:t>
            </a:r>
            <a:endParaRPr sz="1300" b="1">
              <a:solidFill>
                <a:srgbClr val="27AE6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8" name="Rounded Rectangle 37"/>
          <p:cNvSpPr/>
          <p:nvPr/>
        </p:nvSpPr>
        <p:spPr>
          <a:xfrm>
            <a:off x="6172200" y="5486400"/>
            <a:ext cx="2697480" cy="658368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5E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172200" y="5532120"/>
            <a:ext cx="26974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0">
                <a:solidFill>
                  <a:srgbClr val="566573"/>
                </a:solidFill>
                <a:latin typeface="微软雅黑" panose="020B0503020204020204" charset="-122"/>
                <a:ea typeface="微软雅黑" panose="020B0503020204020204" charset="-122"/>
              </a:rPr>
              <a:t>平均响应时间</a:t>
            </a:r>
            <a:endParaRPr sz="1100" b="0">
              <a:solidFill>
                <a:srgbClr val="56657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6172200" y="5760720"/>
            <a:ext cx="269748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0">
                <a:solidFill>
                  <a:srgbClr val="2C3E50"/>
                </a:solidFill>
                <a:latin typeface="微软雅黑" panose="020B0503020204020204" charset="-122"/>
                <a:ea typeface="微软雅黑" panose="020B0503020204020204" charset="-122"/>
              </a:rPr>
              <a:t>2.5s → 1.5s</a:t>
            </a:r>
            <a:endParaRPr sz="1200" b="0">
              <a:solidFill>
                <a:srgbClr val="2C3E5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6172200" y="5943600"/>
            <a:ext cx="269748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00" b="1">
                <a:solidFill>
                  <a:srgbClr val="27AE60"/>
                </a:solidFill>
                <a:latin typeface="微软雅黑" panose="020B0503020204020204" charset="-122"/>
                <a:ea typeface="微软雅黑" panose="020B0503020204020204" charset="-122"/>
              </a:rPr>
              <a:t>↓ 40%</a:t>
            </a:r>
            <a:endParaRPr sz="1300" b="1">
              <a:solidFill>
                <a:srgbClr val="27AE6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2" name="Rounded Rectangle 41"/>
          <p:cNvSpPr/>
          <p:nvPr/>
        </p:nvSpPr>
        <p:spPr>
          <a:xfrm>
            <a:off x="9006840" y="5486400"/>
            <a:ext cx="2697480" cy="658368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5E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006840" y="5532120"/>
            <a:ext cx="26974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0">
                <a:solidFill>
                  <a:srgbClr val="566573"/>
                </a:solidFill>
                <a:latin typeface="微软雅黑" panose="020B0503020204020204" charset="-122"/>
                <a:ea typeface="微软雅黑" panose="020B0503020204020204" charset="-122"/>
              </a:rPr>
              <a:t>API 成本/100</a:t>
            </a:r>
            <a:endParaRPr sz="1100" b="0">
              <a:solidFill>
                <a:srgbClr val="56657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9006840" y="5760720"/>
            <a:ext cx="269748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0">
                <a:solidFill>
                  <a:srgbClr val="2C3E50"/>
                </a:solidFill>
                <a:latin typeface="微软雅黑" panose="020B0503020204020204" charset="-122"/>
                <a:ea typeface="微软雅黑" panose="020B0503020204020204" charset="-122"/>
              </a:rPr>
              <a:t>$0.50 → $0.12</a:t>
            </a:r>
            <a:endParaRPr sz="1200" b="0">
              <a:solidFill>
                <a:srgbClr val="2C3E5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9006840" y="5943600"/>
            <a:ext cx="269748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00" b="1">
                <a:solidFill>
                  <a:srgbClr val="27AE60"/>
                </a:solidFill>
                <a:latin typeface="微软雅黑" panose="020B0503020204020204" charset="-122"/>
                <a:ea typeface="微软雅黑" panose="020B0503020204020204" charset="-122"/>
              </a:rPr>
              <a:t>↓ 76%</a:t>
            </a:r>
            <a:endParaRPr sz="1300" b="1">
              <a:solidFill>
                <a:srgbClr val="27AE6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502920" y="644652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>
                <a:solidFill>
                  <a:srgbClr val="566573"/>
                </a:solidFill>
                <a:latin typeface="微软雅黑" panose="020B0503020204020204" charset="-122"/>
                <a:ea typeface="微软雅黑" panose="020B0503020204020204" charset="-122"/>
              </a:rPr>
              <a:t>Shop Agent · 电商管理客服系统 · 课程汇报</a:t>
            </a:r>
            <a:endParaRPr sz="1100" b="0">
              <a:solidFill>
                <a:srgbClr val="56657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10241280" y="6446520"/>
            <a:ext cx="1463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00" b="1">
                <a:solidFill>
                  <a:srgbClr val="2E86C1"/>
                </a:solidFill>
                <a:latin typeface="微软雅黑" panose="020B0503020204020204" charset="-122"/>
                <a:ea typeface="微软雅黑" panose="020B0503020204020204" charset="-122"/>
              </a:rPr>
              <a:t>10 / 16</a:t>
            </a:r>
            <a:endParaRPr sz="1100" b="1">
              <a:solidFill>
                <a:srgbClr val="2E86C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20040"/>
            <a:ext cx="4114800" cy="329184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20040"/>
            <a:ext cx="64008" cy="329184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329184"/>
            <a:ext cx="3931920" cy="310896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400" b="1">
                <a:solidFill>
                  <a:srgbClr val="2E86C1"/>
                </a:solidFill>
                <a:latin typeface="微软雅黑" panose="020B0503020204020204" charset="-122"/>
                <a:ea typeface="微软雅黑" panose="020B0503020204020204" charset="-122"/>
              </a:rPr>
              <a:t>02  </a:t>
            </a:r>
            <a:r>
              <a:rPr sz="1400" b="1">
                <a:solidFill>
                  <a:srgbClr val="1F3A68"/>
                </a:solidFill>
                <a:latin typeface="微软雅黑" panose="020B0503020204020204" charset="-122"/>
                <a:ea typeface="微软雅黑" panose="020B0503020204020204" charset="-122"/>
              </a:rPr>
              <a:t>/ 核心技术实现</a:t>
            </a:r>
            <a:endParaRPr sz="1400" b="1">
              <a:solidFill>
                <a:srgbClr val="1F3A6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02920" y="777240"/>
            <a:ext cx="1115568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600" b="1">
                <a:solidFill>
                  <a:srgbClr val="1F3A68"/>
                </a:solidFill>
                <a:latin typeface="微软雅黑" panose="020B0503020204020204" charset="-122"/>
                <a:ea typeface="微软雅黑" panose="020B0503020204020204" charset="-122"/>
              </a:rPr>
              <a:t>数据模型设计</a:t>
            </a:r>
            <a:endParaRPr sz="3600" b="1">
              <a:solidFill>
                <a:srgbClr val="1F3A6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02920" y="1325880"/>
            <a:ext cx="111556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>
                <a:solidFill>
                  <a:srgbClr val="566573"/>
                </a:solidFill>
                <a:latin typeface="微软雅黑" panose="020B0503020204020204" charset="-122"/>
                <a:ea typeface="微软雅黑" panose="020B0503020204020204" charset="-122"/>
              </a:rPr>
              <a:t>ER Diagram · 四张核心表</a:t>
            </a:r>
            <a:endParaRPr sz="1400" b="0">
              <a:solidFill>
                <a:srgbClr val="56657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502920" y="1783080"/>
            <a:ext cx="11155680" cy="27432"/>
          </a:xfrm>
          <a:prstGeom prst="rect">
            <a:avLst/>
          </a:prstGeom>
          <a:solidFill>
            <a:srgbClr val="E5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diagram-er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59363" y="1965960"/>
            <a:ext cx="3956392" cy="443484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6446520" y="2057400"/>
            <a:ext cx="5303520" cy="9875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46520" y="2057400"/>
            <a:ext cx="64008" cy="987552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47688" y="2167128"/>
            <a:ext cx="502920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1F3A68"/>
                </a:solidFill>
                <a:latin typeface="微软雅黑" panose="020B0503020204020204" charset="-122"/>
                <a:ea typeface="微软雅黑" panose="020B0503020204020204" charset="-122"/>
              </a:rPr>
              <a:t>users · 用户</a:t>
            </a:r>
            <a:endParaRPr sz="1500" b="1">
              <a:solidFill>
                <a:srgbClr val="1F3A6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647688" y="2587752"/>
            <a:ext cx="5029200" cy="4206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>
                <a:solidFill>
                  <a:srgbClr val="2C3E50"/>
                </a:solidFill>
                <a:latin typeface="微软雅黑" panose="020B0503020204020204" charset="-122"/>
                <a:ea typeface="微软雅黑" panose="020B0503020204020204" charset="-122"/>
              </a:rPr>
              <a:t>用户名 / 邮箱唯一索引，存储 hashed_password；一对多关联 orders。</a:t>
            </a:r>
            <a:endParaRPr sz="1100" b="0">
              <a:solidFill>
                <a:srgbClr val="2C3E5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6446520" y="3154680"/>
            <a:ext cx="5303520" cy="9875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446520" y="3154680"/>
            <a:ext cx="64008" cy="987552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47688" y="3264408"/>
            <a:ext cx="502920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1F3A68"/>
                </a:solidFill>
                <a:latin typeface="微软雅黑" panose="020B0503020204020204" charset="-122"/>
                <a:ea typeface="微软雅黑" panose="020B0503020204020204" charset="-122"/>
              </a:rPr>
              <a:t>orders · 订单</a:t>
            </a:r>
            <a:endParaRPr sz="1500" b="1">
              <a:solidFill>
                <a:srgbClr val="1F3A6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6647688" y="3685032"/>
            <a:ext cx="5029200" cy="4206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>
                <a:solidFill>
                  <a:srgbClr val="2C3E50"/>
                </a:solidFill>
                <a:latin typeface="微软雅黑" panose="020B0503020204020204" charset="-122"/>
                <a:ea typeface="微软雅黑" panose="020B0503020204020204" charset="-122"/>
              </a:rPr>
              <a:t>订单号、物流单号、收货地址、状态、金额、创建 / 发货 / 送达时间戳。</a:t>
            </a:r>
            <a:endParaRPr sz="1100" b="0">
              <a:solidFill>
                <a:srgbClr val="2C3E5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6446520" y="4251960"/>
            <a:ext cx="5303520" cy="9875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446520" y="4251960"/>
            <a:ext cx="64008" cy="987552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47688" y="4361688"/>
            <a:ext cx="502920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1F3A68"/>
                </a:solidFill>
                <a:latin typeface="微软雅黑" panose="020B0503020204020204" charset="-122"/>
                <a:ea typeface="微软雅黑" panose="020B0503020204020204" charset="-122"/>
              </a:rPr>
              <a:t>products · 商品</a:t>
            </a:r>
            <a:endParaRPr sz="1500" b="1">
              <a:solidFill>
                <a:srgbClr val="1F3A6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6647688" y="4782312"/>
            <a:ext cx="5029200" cy="4206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>
                <a:solidFill>
                  <a:srgbClr val="2C3E50"/>
                </a:solidFill>
                <a:latin typeface="微软雅黑" panose="020B0503020204020204" charset="-122"/>
                <a:ea typeface="微软雅黑" panose="020B0503020204020204" charset="-122"/>
              </a:rPr>
              <a:t>名称 / 描述 / 类别 / 价格 / 库存，支撑 RAG 向量库同步。</a:t>
            </a:r>
            <a:endParaRPr sz="1100" b="0">
              <a:solidFill>
                <a:srgbClr val="2C3E5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" name="Rounded Rectangle 20"/>
          <p:cNvSpPr/>
          <p:nvPr/>
        </p:nvSpPr>
        <p:spPr>
          <a:xfrm>
            <a:off x="6446520" y="5349240"/>
            <a:ext cx="5303520" cy="9875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446520" y="5349240"/>
            <a:ext cx="64008" cy="987552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647688" y="5458968"/>
            <a:ext cx="502920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1F3A68"/>
                </a:solidFill>
                <a:latin typeface="微软雅黑" panose="020B0503020204020204" charset="-122"/>
                <a:ea typeface="微软雅黑" panose="020B0503020204020204" charset="-122"/>
              </a:rPr>
              <a:t>order_items · 订单明细</a:t>
            </a:r>
            <a:endParaRPr sz="1500" b="1">
              <a:solidFill>
                <a:srgbClr val="1F3A6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6647688" y="5879592"/>
            <a:ext cx="5029200" cy="4206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>
                <a:solidFill>
                  <a:srgbClr val="2C3E50"/>
                </a:solidFill>
                <a:latin typeface="微软雅黑" panose="020B0503020204020204" charset="-122"/>
                <a:ea typeface="微软雅黑" panose="020B0503020204020204" charset="-122"/>
              </a:rPr>
              <a:t>订单 × 商品桥表，保留下单时的单价与小计，保证历史一致性。</a:t>
            </a:r>
            <a:endParaRPr sz="1100" b="0">
              <a:solidFill>
                <a:srgbClr val="2C3E5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502920" y="644652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>
                <a:solidFill>
                  <a:srgbClr val="566573"/>
                </a:solidFill>
                <a:latin typeface="微软雅黑" panose="020B0503020204020204" charset="-122"/>
                <a:ea typeface="微软雅黑" panose="020B0503020204020204" charset="-122"/>
              </a:rPr>
              <a:t>Shop Agent · 电商管理客服系统 · 课程汇报</a:t>
            </a:r>
            <a:endParaRPr sz="1100" b="0">
              <a:solidFill>
                <a:srgbClr val="56657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10241280" y="6446520"/>
            <a:ext cx="1463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00" b="1">
                <a:solidFill>
                  <a:srgbClr val="2E86C1"/>
                </a:solidFill>
                <a:latin typeface="微软雅黑" panose="020B0503020204020204" charset="-122"/>
                <a:ea typeface="微软雅黑" panose="020B0503020204020204" charset="-122"/>
              </a:rPr>
              <a:t>11 / 16</a:t>
            </a:r>
            <a:endParaRPr sz="1100" b="1">
              <a:solidFill>
                <a:srgbClr val="2E86C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20040"/>
            <a:ext cx="4114800" cy="329184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20040"/>
            <a:ext cx="64008" cy="329184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329184"/>
            <a:ext cx="3931920" cy="310896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400" b="1">
                <a:solidFill>
                  <a:srgbClr val="2E86C1"/>
                </a:solidFill>
                <a:latin typeface="微软雅黑" panose="020B0503020204020204" charset="-122"/>
                <a:ea typeface="微软雅黑" panose="020B0503020204020204" charset="-122"/>
              </a:rPr>
              <a:t>02  </a:t>
            </a:r>
            <a:r>
              <a:rPr sz="1400" b="1">
                <a:solidFill>
                  <a:srgbClr val="1F3A68"/>
                </a:solidFill>
                <a:latin typeface="微软雅黑" panose="020B0503020204020204" charset="-122"/>
                <a:ea typeface="微软雅黑" panose="020B0503020204020204" charset="-122"/>
              </a:rPr>
              <a:t>/ 核心技术实现</a:t>
            </a:r>
            <a:endParaRPr sz="1400" b="1">
              <a:solidFill>
                <a:srgbClr val="1F3A6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02920" y="777240"/>
            <a:ext cx="1115568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600" b="1">
                <a:solidFill>
                  <a:srgbClr val="1F3A68"/>
                </a:solidFill>
                <a:latin typeface="微软雅黑" panose="020B0503020204020204" charset="-122"/>
                <a:ea typeface="微软雅黑" panose="020B0503020204020204" charset="-122"/>
              </a:rPr>
              <a:t>系统亮点小结</a:t>
            </a:r>
            <a:endParaRPr sz="3600" b="1">
              <a:solidFill>
                <a:srgbClr val="1F3A6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02920" y="1325880"/>
            <a:ext cx="111556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>
                <a:solidFill>
                  <a:srgbClr val="566573"/>
                </a:solidFill>
                <a:latin typeface="微软雅黑" panose="020B0503020204020204" charset="-122"/>
                <a:ea typeface="微软雅黑" panose="020B0503020204020204" charset="-122"/>
              </a:rPr>
              <a:t>Highlights</a:t>
            </a:r>
            <a:endParaRPr sz="1400" b="0">
              <a:solidFill>
                <a:srgbClr val="56657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502920" y="1783080"/>
            <a:ext cx="11155680" cy="27432"/>
          </a:xfrm>
          <a:prstGeom prst="rect">
            <a:avLst/>
          </a:prstGeom>
          <a:solidFill>
            <a:srgbClr val="E5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02920" y="2103120"/>
            <a:ext cx="5440680" cy="1783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2103120"/>
            <a:ext cx="64008" cy="1783080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2286000"/>
            <a:ext cx="51663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>
                <a:solidFill>
                  <a:srgbClr val="1F3A68"/>
                </a:solidFill>
                <a:latin typeface="微软雅黑" panose="020B0503020204020204" charset="-122"/>
                <a:ea typeface="微软雅黑" panose="020B0503020204020204" charset="-122"/>
              </a:rPr>
              <a:t>① 分层清晰的架构</a:t>
            </a:r>
            <a:endParaRPr sz="1800" b="1">
              <a:solidFill>
                <a:srgbClr val="1F3A6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731520" y="2880360"/>
            <a:ext cx="516636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>
                <a:solidFill>
                  <a:srgbClr val="2C3E50"/>
                </a:solidFill>
                <a:latin typeface="微软雅黑" panose="020B0503020204020204" charset="-122"/>
                <a:ea typeface="微软雅黑" panose="020B0503020204020204" charset="-122"/>
              </a:rPr>
              <a:t>API / Agent / Service / Database 四层解耦，模块可独立测试与替换。</a:t>
            </a:r>
            <a:endParaRPr sz="1400" b="0">
              <a:solidFill>
                <a:srgbClr val="2C3E5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6263640" y="2103120"/>
            <a:ext cx="5440680" cy="1783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63640" y="2103120"/>
            <a:ext cx="64008" cy="1783080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2240" y="2286000"/>
            <a:ext cx="51663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>
                <a:solidFill>
                  <a:srgbClr val="1F3A68"/>
                </a:solidFill>
                <a:latin typeface="微软雅黑" panose="020B0503020204020204" charset="-122"/>
                <a:ea typeface="微软雅黑" panose="020B0503020204020204" charset="-122"/>
              </a:rPr>
              <a:t>② 能力正交的 Agent</a:t>
            </a:r>
            <a:endParaRPr sz="1800" b="1">
              <a:solidFill>
                <a:srgbClr val="1F3A6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6492240" y="2880360"/>
            <a:ext cx="516636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>
                <a:solidFill>
                  <a:srgbClr val="2C3E50"/>
                </a:solidFill>
                <a:latin typeface="微软雅黑" panose="020B0503020204020204" charset="-122"/>
                <a:ea typeface="微软雅黑" panose="020B0503020204020204" charset="-122"/>
              </a:rPr>
              <a:t>Router / Order / RAG 各司其职，扩展新场景只需新增 Agent，不动路由逻辑。</a:t>
            </a:r>
            <a:endParaRPr sz="1400" b="0">
              <a:solidFill>
                <a:srgbClr val="2C3E5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502920" y="4160520"/>
            <a:ext cx="5440680" cy="1783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02920" y="4160520"/>
            <a:ext cx="64008" cy="1783080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4343400"/>
            <a:ext cx="51663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>
                <a:solidFill>
                  <a:srgbClr val="1F3A68"/>
                </a:solidFill>
                <a:latin typeface="微软雅黑" panose="020B0503020204020204" charset="-122"/>
                <a:ea typeface="微软雅黑" panose="020B0503020204020204" charset="-122"/>
              </a:rPr>
              <a:t>③ 三阶段记忆压缩</a:t>
            </a:r>
            <a:endParaRPr sz="1800" b="1">
              <a:solidFill>
                <a:srgbClr val="1F3A6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731520" y="4937759"/>
            <a:ext cx="516636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>
                <a:solidFill>
                  <a:srgbClr val="2C3E50"/>
                </a:solidFill>
                <a:latin typeface="微软雅黑" panose="020B0503020204020204" charset="-122"/>
                <a:ea typeface="微软雅黑" panose="020B0503020204020204" charset="-122"/>
              </a:rPr>
              <a:t>Buffer → 场景感知 → LLM 压缩，从规则到智能，预期 Token 大幅下降。</a:t>
            </a:r>
            <a:endParaRPr sz="1400" b="0">
              <a:solidFill>
                <a:srgbClr val="2C3E5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6263640" y="4160520"/>
            <a:ext cx="5440680" cy="1783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63640" y="4160520"/>
            <a:ext cx="64008" cy="1783080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92240" y="4343400"/>
            <a:ext cx="51663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>
                <a:solidFill>
                  <a:srgbClr val="1F3A68"/>
                </a:solidFill>
                <a:latin typeface="微软雅黑" panose="020B0503020204020204" charset="-122"/>
                <a:ea typeface="微软雅黑" panose="020B0503020204020204" charset="-122"/>
              </a:rPr>
              <a:t>④ 工程化完善</a:t>
            </a:r>
            <a:endParaRPr sz="1800" b="1">
              <a:solidFill>
                <a:srgbClr val="1F3A6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6492240" y="4937759"/>
            <a:ext cx="516636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>
                <a:solidFill>
                  <a:srgbClr val="2C3E50"/>
                </a:solidFill>
                <a:latin typeface="微软雅黑" panose="020B0503020204020204" charset="-122"/>
                <a:ea typeface="微软雅黑" panose="020B0503020204020204" charset="-122"/>
              </a:rPr>
              <a:t>启动配置校验、请求日志、速率限制、JWT 认证、psutil 监控端点，贴近生产。</a:t>
            </a:r>
            <a:endParaRPr sz="1400" b="0">
              <a:solidFill>
                <a:srgbClr val="2C3E5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502920" y="644652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>
                <a:solidFill>
                  <a:srgbClr val="566573"/>
                </a:solidFill>
                <a:latin typeface="微软雅黑" panose="020B0503020204020204" charset="-122"/>
                <a:ea typeface="微软雅黑" panose="020B0503020204020204" charset="-122"/>
              </a:rPr>
              <a:t>Shop Agent · 电商管理客服系统 · 课程汇报</a:t>
            </a:r>
            <a:endParaRPr sz="1100" b="0">
              <a:solidFill>
                <a:srgbClr val="56657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10241280" y="6446520"/>
            <a:ext cx="1463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00" b="1">
                <a:solidFill>
                  <a:srgbClr val="2E86C1"/>
                </a:solidFill>
                <a:latin typeface="微软雅黑" panose="020B0503020204020204" charset="-122"/>
                <a:ea typeface="微软雅黑" panose="020B0503020204020204" charset="-122"/>
              </a:rPr>
              <a:t>12 / 16</a:t>
            </a:r>
            <a:endParaRPr sz="1100" b="1">
              <a:solidFill>
                <a:srgbClr val="2E86C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20040"/>
            <a:ext cx="4114800" cy="329184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20040"/>
            <a:ext cx="64008" cy="329184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329184"/>
            <a:ext cx="3931920" cy="310896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400" b="1">
                <a:solidFill>
                  <a:srgbClr val="2E86C1"/>
                </a:solidFill>
                <a:latin typeface="微软雅黑" panose="020B0503020204020204" charset="-122"/>
                <a:ea typeface="微软雅黑" panose="020B0503020204020204" charset="-122"/>
              </a:rPr>
              <a:t>03  </a:t>
            </a:r>
            <a:r>
              <a:rPr sz="1400" b="1">
                <a:solidFill>
                  <a:srgbClr val="1F3A68"/>
                </a:solidFill>
                <a:latin typeface="微软雅黑" panose="020B0503020204020204" charset="-122"/>
                <a:ea typeface="微软雅黑" panose="020B0503020204020204" charset="-122"/>
              </a:rPr>
              <a:t>/ 功能演示</a:t>
            </a:r>
            <a:endParaRPr sz="1400" b="1">
              <a:solidFill>
                <a:srgbClr val="1F3A6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02920" y="777240"/>
            <a:ext cx="1115568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600" b="1">
                <a:solidFill>
                  <a:srgbClr val="1F3A68"/>
                </a:solidFill>
                <a:latin typeface="微软雅黑" panose="020B0503020204020204" charset="-122"/>
                <a:ea typeface="微软雅黑" panose="020B0503020204020204" charset="-122"/>
              </a:rPr>
              <a:t>功能演示（一）登录 &amp; 商品推荐</a:t>
            </a:r>
            <a:endParaRPr sz="3600" b="1">
              <a:solidFill>
                <a:srgbClr val="1F3A6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02920" y="1325880"/>
            <a:ext cx="111556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>
                <a:solidFill>
                  <a:srgbClr val="566573"/>
                </a:solidFill>
                <a:latin typeface="微软雅黑" panose="020B0503020204020204" charset="-122"/>
                <a:ea typeface="微软雅黑" panose="020B0503020204020204" charset="-122"/>
              </a:rPr>
              <a:t>微信小程序 · 真机截图</a:t>
            </a:r>
            <a:endParaRPr sz="1400" b="0">
              <a:solidFill>
                <a:srgbClr val="56657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502920" y="1783080"/>
            <a:ext cx="11155680" cy="27432"/>
          </a:xfrm>
          <a:prstGeom prst="rect">
            <a:avLst/>
          </a:prstGeom>
          <a:solidFill>
            <a:srgbClr val="E5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shot-miniapp-login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2365537"/>
            <a:ext cx="4114800" cy="331564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31520" y="6080760"/>
            <a:ext cx="4114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0">
                <a:solidFill>
                  <a:srgbClr val="566573"/>
                </a:solidFill>
                <a:latin typeface="微软雅黑" panose="020B0503020204020204" charset="-122"/>
                <a:ea typeface="微软雅黑" panose="020B0503020204020204" charset="-122"/>
              </a:rPr>
              <a:t>登录 / 注册页（JWT 鉴权）</a:t>
            </a:r>
            <a:endParaRPr sz="1100" b="0">
              <a:solidFill>
                <a:srgbClr val="56657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10" name="Picture 9" descr="shot-rag-resul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48335" y="2011680"/>
            <a:ext cx="1756888" cy="402336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303520" y="6080760"/>
            <a:ext cx="64465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0">
                <a:solidFill>
                  <a:srgbClr val="566573"/>
                </a:solidFill>
                <a:latin typeface="微软雅黑" panose="020B0503020204020204" charset="-122"/>
                <a:ea typeface="微软雅黑" panose="020B0503020204020204" charset="-122"/>
              </a:rPr>
              <a:t>RAG 推荐结果：用户问"推荐 400 元键盘" → ikbc C87 推荐话术</a:t>
            </a:r>
            <a:endParaRPr sz="1100" b="0">
              <a:solidFill>
                <a:srgbClr val="56657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02920" y="644652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>
                <a:solidFill>
                  <a:srgbClr val="566573"/>
                </a:solidFill>
                <a:latin typeface="微软雅黑" panose="020B0503020204020204" charset="-122"/>
                <a:ea typeface="微软雅黑" panose="020B0503020204020204" charset="-122"/>
              </a:rPr>
              <a:t>Shop Agent · 电商管理客服系统 · 课程汇报</a:t>
            </a:r>
            <a:endParaRPr sz="1100" b="0">
              <a:solidFill>
                <a:srgbClr val="56657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0241280" y="6446520"/>
            <a:ext cx="1463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00" b="1">
                <a:solidFill>
                  <a:srgbClr val="2E86C1"/>
                </a:solidFill>
                <a:latin typeface="微软雅黑" panose="020B0503020204020204" charset="-122"/>
                <a:ea typeface="微软雅黑" panose="020B0503020204020204" charset="-122"/>
              </a:rPr>
              <a:t>13 / 16</a:t>
            </a:r>
            <a:endParaRPr sz="1100" b="1">
              <a:solidFill>
                <a:srgbClr val="2E86C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20040"/>
            <a:ext cx="4114800" cy="329184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20040"/>
            <a:ext cx="64008" cy="329184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329184"/>
            <a:ext cx="3931920" cy="310896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400" b="1">
                <a:solidFill>
                  <a:srgbClr val="2E86C1"/>
                </a:solidFill>
                <a:latin typeface="微软雅黑" panose="020B0503020204020204" charset="-122"/>
                <a:ea typeface="微软雅黑" panose="020B0503020204020204" charset="-122"/>
              </a:rPr>
              <a:t>03  </a:t>
            </a:r>
            <a:r>
              <a:rPr sz="1400" b="1">
                <a:solidFill>
                  <a:srgbClr val="1F3A68"/>
                </a:solidFill>
                <a:latin typeface="微软雅黑" panose="020B0503020204020204" charset="-122"/>
                <a:ea typeface="微软雅黑" panose="020B0503020204020204" charset="-122"/>
              </a:rPr>
              <a:t>/ 功能演示</a:t>
            </a:r>
            <a:endParaRPr sz="1400" b="1">
              <a:solidFill>
                <a:srgbClr val="1F3A6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02920" y="777240"/>
            <a:ext cx="1115568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600" b="1">
                <a:solidFill>
                  <a:srgbClr val="1F3A68"/>
                </a:solidFill>
                <a:latin typeface="微软雅黑" panose="020B0503020204020204" charset="-122"/>
                <a:ea typeface="微软雅黑" panose="020B0503020204020204" charset="-122"/>
              </a:rPr>
              <a:t>功能演示（二）开发端 &amp; 场景</a:t>
            </a:r>
            <a:endParaRPr sz="3600" b="1">
              <a:solidFill>
                <a:srgbClr val="1F3A6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02920" y="1325880"/>
            <a:ext cx="111556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>
                <a:solidFill>
                  <a:srgbClr val="566573"/>
                </a:solidFill>
                <a:latin typeface="微软雅黑" panose="020B0503020204020204" charset="-122"/>
                <a:ea typeface="微软雅黑" panose="020B0503020204020204" charset="-122"/>
              </a:rPr>
              <a:t>Streamlit 真实截图 · 三场景</a:t>
            </a:r>
            <a:endParaRPr sz="1400" b="0">
              <a:solidFill>
                <a:srgbClr val="56657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502920" y="1783080"/>
            <a:ext cx="11155680" cy="27432"/>
          </a:xfrm>
          <a:prstGeom prst="rect">
            <a:avLst/>
          </a:prstGeom>
          <a:solidFill>
            <a:srgbClr val="E5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shot-streamlit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677312" y="1965960"/>
            <a:ext cx="2234894" cy="420624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02920" y="6217920"/>
            <a:ext cx="65836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0">
                <a:solidFill>
                  <a:srgbClr val="566573"/>
                </a:solidFill>
                <a:latin typeface="微软雅黑" panose="020B0503020204020204" charset="-122"/>
                <a:ea typeface="微软雅黑" panose="020B0503020204020204" charset="-122"/>
              </a:rPr>
              <a:t>Streamlit 联调页：登录态 + 完整 RAG 对话 + 识别意图/使用工具 标签</a:t>
            </a:r>
            <a:endParaRPr sz="1100" b="0">
              <a:solidFill>
                <a:srgbClr val="56657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7360920" y="2011680"/>
            <a:ext cx="438912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360920" y="2011680"/>
            <a:ext cx="64008" cy="1005840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562088" y="2121408"/>
            <a:ext cx="4114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>
                <a:solidFill>
                  <a:srgbClr val="1F3A68"/>
                </a:solidFill>
                <a:latin typeface="微软雅黑" panose="020B0503020204020204" charset="-122"/>
                <a:ea typeface="微软雅黑" panose="020B0503020204020204" charset="-122"/>
              </a:rPr>
              <a:t>A · 订单查询（Tool Calling）</a:t>
            </a:r>
            <a:endParaRPr sz="1300" b="1">
              <a:solidFill>
                <a:srgbClr val="1F3A6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7562088" y="2468880"/>
            <a:ext cx="4114800" cy="5303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>
                <a:solidFill>
                  <a:srgbClr val="2C3E50"/>
                </a:solidFill>
                <a:latin typeface="微软雅黑" panose="020B0503020204020204" charset="-122"/>
                <a:ea typeface="微软雅黑" panose="020B0503020204020204" charset="-122"/>
              </a:rPr>
              <a:t>ORD123 到哪了？ → Router → OrderAgent → get_order_status → SQLite。</a:t>
            </a:r>
            <a:endParaRPr sz="1100" b="0">
              <a:solidFill>
                <a:srgbClr val="2C3E5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7360920" y="3127248"/>
            <a:ext cx="438912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360920" y="3127248"/>
            <a:ext cx="64008" cy="1005840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562088" y="3236976"/>
            <a:ext cx="4114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>
                <a:solidFill>
                  <a:srgbClr val="1F3A68"/>
                </a:solidFill>
                <a:latin typeface="微软雅黑" panose="020B0503020204020204" charset="-122"/>
                <a:ea typeface="微软雅黑" panose="020B0503020204020204" charset="-122"/>
              </a:rPr>
              <a:t>B · 商品推荐（RAG）</a:t>
            </a:r>
            <a:endParaRPr sz="1300" b="1">
              <a:solidFill>
                <a:srgbClr val="1F3A6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7562088" y="3584448"/>
            <a:ext cx="4114800" cy="5303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>
                <a:solidFill>
                  <a:srgbClr val="2C3E50"/>
                </a:solidFill>
                <a:latin typeface="微软雅黑" panose="020B0503020204020204" charset="-122"/>
                <a:ea typeface="微软雅黑" panose="020B0503020204020204" charset="-122"/>
              </a:rPr>
              <a:t>300 元左右的键盘 → RAGAgent → Top-K → LLM 生成推荐。</a:t>
            </a:r>
            <a:endParaRPr sz="1100" b="0">
              <a:solidFill>
                <a:srgbClr val="2C3E5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7360920" y="4242816"/>
            <a:ext cx="438912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360920" y="4242816"/>
            <a:ext cx="64008" cy="1005840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562088" y="4352544"/>
            <a:ext cx="4114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>
                <a:solidFill>
                  <a:srgbClr val="1F3A68"/>
                </a:solidFill>
                <a:latin typeface="微软雅黑" panose="020B0503020204020204" charset="-122"/>
                <a:ea typeface="微软雅黑" panose="020B0503020204020204" charset="-122"/>
              </a:rPr>
              <a:t>C · 多轮压缩（Memory）</a:t>
            </a:r>
            <a:endParaRPr sz="1300" b="1">
              <a:solidFill>
                <a:srgbClr val="1F3A6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7562088" y="4700016"/>
            <a:ext cx="4114800" cy="5303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>
                <a:solidFill>
                  <a:srgbClr val="2C3E50"/>
                </a:solidFill>
                <a:latin typeface="微软雅黑" panose="020B0503020204020204" charset="-122"/>
                <a:ea typeface="微软雅黑" panose="020B0503020204020204" charset="-122"/>
              </a:rPr>
              <a:t>早期历史触发 LLM 摘要，Token 占用维持稳定区间。</a:t>
            </a:r>
            <a:endParaRPr sz="1100" b="0">
              <a:solidFill>
                <a:srgbClr val="2C3E5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7390765" y="5358765"/>
            <a:ext cx="4389120" cy="1014730"/>
          </a:xfrm>
          <a:prstGeom prst="roundRect">
            <a:avLst>
              <a:gd name="adj" fmla="val 13208"/>
            </a:avLst>
          </a:prstGeom>
          <a:solidFill>
            <a:srgbClr val="FFFFFF"/>
          </a:solidFill>
          <a:ln w="15240">
            <a:solidFill>
              <a:srgbClr val="1F3A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360920" y="5358765"/>
            <a:ext cx="76200" cy="1029335"/>
          </a:xfrm>
          <a:prstGeom prst="rect">
            <a:avLst/>
          </a:prstGeom>
          <a:solidFill>
            <a:srgbClr val="1F3A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562088" y="5468112"/>
            <a:ext cx="4114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1F3A68"/>
                </a:solidFill>
                <a:latin typeface="微软雅黑" panose="020B0503020204020204" charset="-122"/>
                <a:ea typeface="微软雅黑" panose="020B0503020204020204" charset="-122"/>
              </a:rPr>
              <a:t>可视化要点</a:t>
            </a:r>
            <a:endParaRPr sz="1400" b="1">
              <a:solidFill>
                <a:srgbClr val="1F3A6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7543800" y="5723890"/>
            <a:ext cx="4114800" cy="50419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100" b="0">
                <a:solidFill>
                  <a:srgbClr val="2C3E50"/>
                </a:solidFill>
                <a:latin typeface="微软雅黑" panose="020B0503020204020204" charset="-122"/>
                <a:ea typeface="微软雅黑" panose="020B0503020204020204" charset="-122"/>
              </a:rPr>
              <a:t>截图下方的「识别意图」与「使用工具」标签，能直观证明 RouterAgent 做了意图分类、RAGAgent 真实调用了底层检索，不是凭空生成。</a:t>
            </a:r>
            <a:endParaRPr sz="1100" b="0">
              <a:solidFill>
                <a:srgbClr val="2C3E5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502920" y="644652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>
                <a:solidFill>
                  <a:srgbClr val="566573"/>
                </a:solidFill>
                <a:latin typeface="微软雅黑" panose="020B0503020204020204" charset="-122"/>
                <a:ea typeface="微软雅黑" panose="020B0503020204020204" charset="-122"/>
              </a:rPr>
              <a:t>Shop Agent · 电商管理客服系统 · 课程汇报</a:t>
            </a:r>
            <a:endParaRPr sz="1100" b="0">
              <a:solidFill>
                <a:srgbClr val="56657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10241280" y="6446520"/>
            <a:ext cx="1463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00" b="1">
                <a:solidFill>
                  <a:srgbClr val="2E86C1"/>
                </a:solidFill>
                <a:latin typeface="微软雅黑" panose="020B0503020204020204" charset="-122"/>
                <a:ea typeface="微软雅黑" panose="020B0503020204020204" charset="-122"/>
              </a:rPr>
              <a:t>14 / 16</a:t>
            </a:r>
            <a:endParaRPr sz="1100" b="1">
              <a:solidFill>
                <a:srgbClr val="2E86C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20040"/>
            <a:ext cx="4114800" cy="329184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20040"/>
            <a:ext cx="64008" cy="329184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329184"/>
            <a:ext cx="3931920" cy="310896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400" b="1">
                <a:solidFill>
                  <a:srgbClr val="2E86C1"/>
                </a:solidFill>
                <a:latin typeface="微软雅黑" panose="020B0503020204020204" charset="-122"/>
                <a:ea typeface="微软雅黑" panose="020B0503020204020204" charset="-122"/>
              </a:rPr>
              <a:t>04  </a:t>
            </a:r>
            <a:r>
              <a:rPr sz="1400" b="1">
                <a:solidFill>
                  <a:srgbClr val="1F3A68"/>
                </a:solidFill>
                <a:latin typeface="微软雅黑" panose="020B0503020204020204" charset="-122"/>
                <a:ea typeface="微软雅黑" panose="020B0503020204020204" charset="-122"/>
              </a:rPr>
              <a:t>/ 总结与展望</a:t>
            </a:r>
            <a:endParaRPr sz="1400" b="1">
              <a:solidFill>
                <a:srgbClr val="1F3A6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02920" y="777240"/>
            <a:ext cx="1115568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600" b="1">
                <a:solidFill>
                  <a:srgbClr val="1F3A68"/>
                </a:solidFill>
                <a:latin typeface="微软雅黑" panose="020B0503020204020204" charset="-122"/>
                <a:ea typeface="微软雅黑" panose="020B0503020204020204" charset="-122"/>
              </a:rPr>
              <a:t>项目总结与后续工作</a:t>
            </a:r>
            <a:endParaRPr sz="3600" b="1">
              <a:solidFill>
                <a:srgbClr val="1F3A6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02920" y="1325880"/>
            <a:ext cx="111556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>
                <a:solidFill>
                  <a:srgbClr val="566573"/>
                </a:solidFill>
                <a:latin typeface="微软雅黑" panose="020B0503020204020204" charset="-122"/>
                <a:ea typeface="微软雅黑" panose="020B0503020204020204" charset="-122"/>
              </a:rPr>
              <a:t>Summary &amp; Roadmap</a:t>
            </a:r>
            <a:endParaRPr sz="1400" b="0">
              <a:solidFill>
                <a:srgbClr val="56657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502920" y="1783080"/>
            <a:ext cx="11155680" cy="27432"/>
          </a:xfrm>
          <a:prstGeom prst="rect">
            <a:avLst/>
          </a:prstGeom>
          <a:solidFill>
            <a:srgbClr val="E5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02920" y="2103120"/>
            <a:ext cx="5532120" cy="4023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2103120"/>
            <a:ext cx="73152" cy="4023360"/>
          </a:xfrm>
          <a:prstGeom prst="rect">
            <a:avLst/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2240280"/>
            <a:ext cx="50292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>
                <a:solidFill>
                  <a:srgbClr val="27AE60"/>
                </a:solidFill>
                <a:latin typeface="微软雅黑" panose="020B0503020204020204" charset="-122"/>
                <a:ea typeface="微软雅黑" panose="020B0503020204020204" charset="-122"/>
              </a:rPr>
              <a:t>✅ 已完成</a:t>
            </a:r>
            <a:endParaRPr sz="2000" b="1">
              <a:solidFill>
                <a:srgbClr val="27AE6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731520" y="2743200"/>
            <a:ext cx="5120640" cy="3291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1">
                <a:solidFill>
                  <a:srgbClr val="27AE60"/>
                </a:solidFill>
                <a:latin typeface="微软雅黑" panose="020B0503020204020204" charset="-122"/>
                <a:ea typeface="微软雅黑" panose="020B0503020204020204" charset="-122"/>
              </a:rPr>
              <a:t>● </a:t>
            </a:r>
            <a:r>
              <a:rPr sz="1400" b="0">
                <a:solidFill>
                  <a:srgbClr val="2C3E50"/>
                </a:solidFill>
                <a:latin typeface="微软雅黑" panose="020B0503020204020204" charset="-122"/>
                <a:ea typeface="微软雅黑" panose="020B0503020204020204" charset="-122"/>
              </a:rPr>
              <a:t>FastAPI 完整后端 + 5 个聊天端点</a:t>
            </a:r>
            <a:endParaRPr sz="1400" b="0">
              <a:solidFill>
                <a:srgbClr val="2C3E50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30000"/>
              </a:lnSpc>
            </a:pPr>
            <a:r>
              <a:rPr sz="1400" b="1">
                <a:solidFill>
                  <a:srgbClr val="27AE60"/>
                </a:solidFill>
                <a:latin typeface="微软雅黑" panose="020B0503020204020204" charset="-122"/>
                <a:ea typeface="微软雅黑" panose="020B0503020204020204" charset="-122"/>
              </a:rPr>
              <a:t>● </a:t>
            </a:r>
            <a:r>
              <a:rPr sz="1400" b="0">
                <a:solidFill>
                  <a:srgbClr val="2C3E50"/>
                </a:solidFill>
                <a:latin typeface="微软雅黑" panose="020B0503020204020204" charset="-122"/>
                <a:ea typeface="微软雅黑" panose="020B0503020204020204" charset="-122"/>
              </a:rPr>
              <a:t>Tool Calling 订单查询链路</a:t>
            </a:r>
            <a:endParaRPr sz="1400" b="0">
              <a:solidFill>
                <a:srgbClr val="2C3E50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30000"/>
              </a:lnSpc>
            </a:pPr>
            <a:r>
              <a:rPr sz="1400" b="1">
                <a:solidFill>
                  <a:srgbClr val="27AE60"/>
                </a:solidFill>
                <a:latin typeface="微软雅黑" panose="020B0503020204020204" charset="-122"/>
                <a:ea typeface="微软雅黑" panose="020B0503020204020204" charset="-122"/>
              </a:rPr>
              <a:t>● </a:t>
            </a:r>
            <a:r>
              <a:rPr sz="1400" b="0">
                <a:solidFill>
                  <a:srgbClr val="2C3E50"/>
                </a:solidFill>
                <a:latin typeface="微软雅黑" panose="020B0503020204020204" charset="-122"/>
                <a:ea typeface="微软雅黑" panose="020B0503020204020204" charset="-122"/>
              </a:rPr>
              <a:t>ChromaDB + SiliconFlow 的 RAG 推荐</a:t>
            </a:r>
            <a:endParaRPr sz="1400" b="0">
              <a:solidFill>
                <a:srgbClr val="2C3E50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30000"/>
              </a:lnSpc>
            </a:pPr>
            <a:r>
              <a:rPr sz="1400" b="1">
                <a:solidFill>
                  <a:srgbClr val="27AE60"/>
                </a:solidFill>
                <a:latin typeface="微软雅黑" panose="020B0503020204020204" charset="-122"/>
                <a:ea typeface="微软雅黑" panose="020B0503020204020204" charset="-122"/>
              </a:rPr>
              <a:t>● </a:t>
            </a:r>
            <a:r>
              <a:rPr sz="1400" b="0">
                <a:solidFill>
                  <a:srgbClr val="2C3E50"/>
                </a:solidFill>
                <a:latin typeface="微软雅黑" panose="020B0503020204020204" charset="-122"/>
                <a:ea typeface="微软雅黑" panose="020B0503020204020204" charset="-122"/>
              </a:rPr>
              <a:t>Router Agent 意图路由</a:t>
            </a:r>
            <a:endParaRPr sz="1400" b="0">
              <a:solidFill>
                <a:srgbClr val="2C3E50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30000"/>
              </a:lnSpc>
            </a:pPr>
            <a:r>
              <a:rPr sz="1400" b="1">
                <a:solidFill>
                  <a:srgbClr val="27AE60"/>
                </a:solidFill>
                <a:latin typeface="微软雅黑" panose="020B0503020204020204" charset="-122"/>
                <a:ea typeface="微软雅黑" panose="020B0503020204020204" charset="-122"/>
              </a:rPr>
              <a:t>● </a:t>
            </a:r>
            <a:r>
              <a:rPr sz="1400" b="0">
                <a:solidFill>
                  <a:srgbClr val="2C3E50"/>
                </a:solidFill>
                <a:latin typeface="微软雅黑" panose="020B0503020204020204" charset="-122"/>
                <a:ea typeface="微软雅黑" panose="020B0503020204020204" charset="-122"/>
              </a:rPr>
              <a:t>Agent Memory 阶段 1 / 2 / 3</a:t>
            </a:r>
            <a:endParaRPr sz="1400" b="0">
              <a:solidFill>
                <a:srgbClr val="2C3E50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30000"/>
              </a:lnSpc>
            </a:pPr>
            <a:r>
              <a:rPr sz="1400" b="1">
                <a:solidFill>
                  <a:srgbClr val="27AE60"/>
                </a:solidFill>
                <a:latin typeface="微软雅黑" panose="020B0503020204020204" charset="-122"/>
                <a:ea typeface="微软雅黑" panose="020B0503020204020204" charset="-122"/>
              </a:rPr>
              <a:t>● </a:t>
            </a:r>
            <a:r>
              <a:rPr sz="1400" b="0">
                <a:solidFill>
                  <a:srgbClr val="2C3E50"/>
                </a:solidFill>
                <a:latin typeface="微软雅黑" panose="020B0503020204020204" charset="-122"/>
                <a:ea typeface="微软雅黑" panose="020B0503020204020204" charset="-122"/>
              </a:rPr>
              <a:t>双前端（微信小程序 + Streamlit）+ JWT 认证</a:t>
            </a:r>
            <a:endParaRPr sz="1400" b="0">
              <a:solidFill>
                <a:srgbClr val="2C3E50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30000"/>
              </a:lnSpc>
            </a:pPr>
            <a:r>
              <a:rPr sz="1400" b="1">
                <a:solidFill>
                  <a:srgbClr val="27AE60"/>
                </a:solidFill>
                <a:latin typeface="微软雅黑" panose="020B0503020204020204" charset="-122"/>
                <a:ea typeface="微软雅黑" panose="020B0503020204020204" charset="-122"/>
              </a:rPr>
              <a:t>● </a:t>
            </a:r>
            <a:r>
              <a:rPr sz="1400" b="0">
                <a:solidFill>
                  <a:srgbClr val="2C3E50"/>
                </a:solidFill>
                <a:latin typeface="微软雅黑" panose="020B0503020204020204" charset="-122"/>
                <a:ea typeface="微软雅黑" panose="020B0503020204020204" charset="-122"/>
              </a:rPr>
              <a:t>启动配置校验 + 日志/限流中间件</a:t>
            </a:r>
            <a:endParaRPr sz="1400" b="0">
              <a:solidFill>
                <a:srgbClr val="2C3E5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6172200" y="2103120"/>
            <a:ext cx="5532120" cy="4023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72200" y="2103120"/>
            <a:ext cx="73152" cy="4023360"/>
          </a:xfrm>
          <a:prstGeom prst="rect">
            <a:avLst/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0" y="2240280"/>
            <a:ext cx="50292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>
                <a:solidFill>
                  <a:srgbClr val="E67E22"/>
                </a:solidFill>
                <a:latin typeface="微软雅黑" panose="020B0503020204020204" charset="-122"/>
                <a:ea typeface="微软雅黑" panose="020B0503020204020204" charset="-122"/>
              </a:rPr>
              <a:t>⏳ 后续工作</a:t>
            </a:r>
            <a:endParaRPr sz="2000" b="1">
              <a:solidFill>
                <a:srgbClr val="E67E2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6400800" y="2743200"/>
            <a:ext cx="5120640" cy="3291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1">
                <a:solidFill>
                  <a:srgbClr val="E67E22"/>
                </a:solidFill>
                <a:latin typeface="微软雅黑" panose="020B0503020204020204" charset="-122"/>
                <a:ea typeface="微软雅黑" panose="020B0503020204020204" charset="-122"/>
              </a:rPr>
              <a:t>● </a:t>
            </a:r>
            <a:r>
              <a:rPr sz="1400" b="0">
                <a:solidFill>
                  <a:srgbClr val="2C3E50"/>
                </a:solidFill>
                <a:latin typeface="微软雅黑" panose="020B0503020204020204" charset="-122"/>
                <a:ea typeface="微软雅黑" panose="020B0503020204020204" charset="-122"/>
              </a:rPr>
              <a:t>Memory 阶段 4：会话持久化（ChatSession 表）</a:t>
            </a:r>
            <a:endParaRPr sz="1400" b="0">
              <a:solidFill>
                <a:srgbClr val="2C3E50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30000"/>
              </a:lnSpc>
            </a:pPr>
            <a:r>
              <a:rPr sz="1400" b="1">
                <a:solidFill>
                  <a:srgbClr val="E67E22"/>
                </a:solidFill>
                <a:latin typeface="微软雅黑" panose="020B0503020204020204" charset="-122"/>
                <a:ea typeface="微软雅黑" panose="020B0503020204020204" charset="-122"/>
              </a:rPr>
              <a:t>● </a:t>
            </a:r>
            <a:r>
              <a:rPr sz="1400" b="0">
                <a:solidFill>
                  <a:srgbClr val="2C3E50"/>
                </a:solidFill>
                <a:latin typeface="微软雅黑" panose="020B0503020204020204" charset="-122"/>
                <a:ea typeface="微软雅黑" panose="020B0503020204020204" charset="-122"/>
              </a:rPr>
              <a:t>JWT 签名验证 + 密码 bcrypt/argon2 升级</a:t>
            </a:r>
            <a:endParaRPr sz="1400" b="0">
              <a:solidFill>
                <a:srgbClr val="2C3E50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30000"/>
              </a:lnSpc>
            </a:pPr>
            <a:r>
              <a:rPr sz="1400" b="1">
                <a:solidFill>
                  <a:srgbClr val="E67E22"/>
                </a:solidFill>
                <a:latin typeface="微软雅黑" panose="020B0503020204020204" charset="-122"/>
                <a:ea typeface="微软雅黑" panose="020B0503020204020204" charset="-122"/>
              </a:rPr>
              <a:t>● </a:t>
            </a:r>
            <a:r>
              <a:rPr sz="1400" b="0">
                <a:solidFill>
                  <a:srgbClr val="2C3E50"/>
                </a:solidFill>
                <a:latin typeface="微软雅黑" panose="020B0503020204020204" charset="-122"/>
                <a:ea typeface="微软雅黑" panose="020B0503020204020204" charset="-122"/>
              </a:rPr>
              <a:t>意图分类合并为单次 tool_choice，降低延迟</a:t>
            </a:r>
            <a:endParaRPr sz="1400" b="0">
              <a:solidFill>
                <a:srgbClr val="2C3E50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30000"/>
              </a:lnSpc>
            </a:pPr>
            <a:r>
              <a:rPr sz="1400" b="1">
                <a:solidFill>
                  <a:srgbClr val="E67E22"/>
                </a:solidFill>
                <a:latin typeface="微软雅黑" panose="020B0503020204020204" charset="-122"/>
                <a:ea typeface="微软雅黑" panose="020B0503020204020204" charset="-122"/>
              </a:rPr>
              <a:t>● </a:t>
            </a:r>
            <a:r>
              <a:rPr sz="1400" b="0">
                <a:solidFill>
                  <a:srgbClr val="2C3E50"/>
                </a:solidFill>
                <a:latin typeface="微软雅黑" panose="020B0503020204020204" charset="-122"/>
                <a:ea typeface="微软雅黑" panose="020B0503020204020204" charset="-122"/>
              </a:rPr>
              <a:t>产品数据源（CSV 与 DB）统一同步机制</a:t>
            </a:r>
            <a:endParaRPr sz="1400" b="0">
              <a:solidFill>
                <a:srgbClr val="2C3E50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30000"/>
              </a:lnSpc>
            </a:pPr>
            <a:r>
              <a:rPr sz="1400" b="1">
                <a:solidFill>
                  <a:srgbClr val="E67E22"/>
                </a:solidFill>
                <a:latin typeface="微软雅黑" panose="020B0503020204020204" charset="-122"/>
                <a:ea typeface="微软雅黑" panose="020B0503020204020204" charset="-122"/>
              </a:rPr>
              <a:t>● </a:t>
            </a:r>
            <a:r>
              <a:rPr sz="1400" b="0">
                <a:solidFill>
                  <a:srgbClr val="2C3E50"/>
                </a:solidFill>
                <a:latin typeface="微软雅黑" panose="020B0503020204020204" charset="-122"/>
                <a:ea typeface="微软雅黑" panose="020B0503020204020204" charset="-122"/>
              </a:rPr>
              <a:t>流式响应 / WebSocket 实时聊天</a:t>
            </a:r>
            <a:endParaRPr sz="1400" b="0">
              <a:solidFill>
                <a:srgbClr val="2C3E50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30000"/>
              </a:lnSpc>
            </a:pPr>
            <a:r>
              <a:rPr sz="1400" b="1">
                <a:solidFill>
                  <a:srgbClr val="E67E22"/>
                </a:solidFill>
                <a:latin typeface="微软雅黑" panose="020B0503020204020204" charset="-122"/>
                <a:ea typeface="微软雅黑" panose="020B0503020204020204" charset="-122"/>
              </a:rPr>
              <a:t>● </a:t>
            </a:r>
            <a:r>
              <a:rPr sz="1400" b="0">
                <a:solidFill>
                  <a:srgbClr val="2C3E50"/>
                </a:solidFill>
                <a:latin typeface="微软雅黑" panose="020B0503020204020204" charset="-122"/>
                <a:ea typeface="微软雅黑" panose="020B0503020204020204" charset="-122"/>
              </a:rPr>
              <a:t>Dockerfile + 部署脚本 + 测试补全</a:t>
            </a:r>
            <a:endParaRPr sz="1400" b="0">
              <a:solidFill>
                <a:srgbClr val="2C3E5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502920" y="644652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>
                <a:solidFill>
                  <a:srgbClr val="566573"/>
                </a:solidFill>
                <a:latin typeface="微软雅黑" panose="020B0503020204020204" charset="-122"/>
                <a:ea typeface="微软雅黑" panose="020B0503020204020204" charset="-122"/>
              </a:rPr>
              <a:t>Shop Agent · 电商管理客服系统 · 课程汇报</a:t>
            </a:r>
            <a:endParaRPr sz="1100" b="0">
              <a:solidFill>
                <a:srgbClr val="56657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10241280" y="6446520"/>
            <a:ext cx="1463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00" b="1">
                <a:solidFill>
                  <a:srgbClr val="2E86C1"/>
                </a:solidFill>
                <a:latin typeface="微软雅黑" panose="020B0503020204020204" charset="-122"/>
                <a:ea typeface="微软雅黑" panose="020B0503020204020204" charset="-122"/>
              </a:rPr>
              <a:t>15 / 16</a:t>
            </a:r>
            <a:endParaRPr sz="1100" b="1">
              <a:solidFill>
                <a:srgbClr val="2E86C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1645920"/>
            <a:ext cx="12191695" cy="1645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0" b="1">
                <a:solidFill>
                  <a:srgbClr val="1F3A68"/>
                </a:solidFill>
                <a:latin typeface="微软雅黑" panose="020B0503020204020204" charset="-122"/>
                <a:ea typeface="微软雅黑" panose="020B0503020204020204" charset="-122"/>
              </a:rPr>
              <a:t>Q &amp; A</a:t>
            </a:r>
            <a:endParaRPr sz="12000" b="1">
              <a:solidFill>
                <a:srgbClr val="1F3A6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0" y="3474720"/>
            <a:ext cx="12191695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200" b="0">
                <a:solidFill>
                  <a:srgbClr val="566573"/>
                </a:solidFill>
                <a:latin typeface="微软雅黑" panose="020B0503020204020204" charset="-122"/>
                <a:ea typeface="微软雅黑" panose="020B0503020204020204" charset="-122"/>
              </a:rPr>
              <a:t>感谢聆听，欢迎提问与指导</a:t>
            </a:r>
            <a:endParaRPr sz="2200" b="0">
              <a:solidFill>
                <a:srgbClr val="56657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0" y="4389120"/>
            <a:ext cx="12191695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5400" b="1">
                <a:solidFill>
                  <a:srgbClr val="1F3A68"/>
                </a:solidFill>
                <a:latin typeface="微软雅黑" panose="020B0503020204020204" charset="-122"/>
                <a:ea typeface="微软雅黑" panose="020B0503020204020204" charset="-122"/>
              </a:rPr>
              <a:t>谢  谢</a:t>
            </a:r>
            <a:endParaRPr sz="5400" b="1">
              <a:solidFill>
                <a:srgbClr val="1F3A6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0" y="5760720"/>
            <a:ext cx="1219169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00" b="0">
                <a:solidFill>
                  <a:srgbClr val="566573"/>
                </a:solidFill>
                <a:latin typeface="微软雅黑" panose="020B0503020204020204" charset="-122"/>
                <a:ea typeface="微软雅黑" panose="020B0503020204020204" charset="-122"/>
              </a:rPr>
              <a:t>项目仓库：Shop-Agent · main 分支</a:t>
            </a:r>
            <a:endParaRPr sz="1300" b="0">
              <a:solidFill>
                <a:srgbClr val="56657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02920" y="644652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>
                <a:solidFill>
                  <a:srgbClr val="566573"/>
                </a:solidFill>
                <a:latin typeface="微软雅黑" panose="020B0503020204020204" charset="-122"/>
                <a:ea typeface="微软雅黑" panose="020B0503020204020204" charset="-122"/>
              </a:rPr>
              <a:t>Shop Agent · 电商管理客服系统 · 课程汇报</a:t>
            </a:r>
            <a:endParaRPr sz="1100" b="0">
              <a:solidFill>
                <a:srgbClr val="56657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0241280" y="6446520"/>
            <a:ext cx="1463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00" b="1">
                <a:solidFill>
                  <a:srgbClr val="2E86C1"/>
                </a:solidFill>
                <a:latin typeface="微软雅黑" panose="020B0503020204020204" charset="-122"/>
                <a:ea typeface="微软雅黑" panose="020B0503020204020204" charset="-122"/>
              </a:rPr>
              <a:t>16 / 16</a:t>
            </a:r>
            <a:endParaRPr sz="1100" b="1">
              <a:solidFill>
                <a:srgbClr val="2E86C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4446</Words>
  <Application>WPS 演示</Application>
  <PresentationFormat>On-screen Show (4:3)</PresentationFormat>
  <Paragraphs>475</Paragraphs>
  <Slides>16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16</vt:i4>
      </vt:variant>
    </vt:vector>
  </HeadingPairs>
  <TitlesOfParts>
    <vt:vector size="26" baseType="lpstr">
      <vt:lpstr>Arial</vt:lpstr>
      <vt:lpstr>宋体</vt:lpstr>
      <vt:lpstr>Wingdings</vt:lpstr>
      <vt:lpstr>Arial</vt:lpstr>
      <vt:lpstr>微软雅黑</vt:lpstr>
      <vt:lpstr>Calibri</vt:lpstr>
      <vt:lpstr>Arial Unicode MS</vt:lpstr>
      <vt:lpstr>Wingdings</vt:lpstr>
      <vt:lpstr>江城圆体 400W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零零落落</cp:lastModifiedBy>
  <cp:revision>6</cp:revision>
  <dcterms:created xsi:type="dcterms:W3CDTF">2013-01-27T09:14:00Z</dcterms:created>
  <dcterms:modified xsi:type="dcterms:W3CDTF">2026-04-22T18:22:22Z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2052-12.1.0.25865</vt:lpwstr>
  </property>
  <property fmtid="{D5CDD505-2E9C-101B-9397-08002B2CF9AE}" pid="3" name="ICV">
    <vt:lpwstr>CF965092A0B249C2BE9B1CC14797C8D1_12</vt:lpwstr>
  </property>
</Properties>
</file>